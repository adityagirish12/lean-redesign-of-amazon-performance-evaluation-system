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1" r:id="rId4"/>
  </p:sldMasterIdLst>
  <p:notesMasterIdLst>
    <p:notesMasterId r:id="rId18"/>
  </p:notesMasterIdLst>
  <p:handoutMasterIdLst>
    <p:handoutMasterId r:id="rId19"/>
  </p:handoutMasterIdLst>
  <p:sldIdLst>
    <p:sldId id="263" r:id="rId5"/>
    <p:sldId id="264" r:id="rId6"/>
    <p:sldId id="271" r:id="rId7"/>
    <p:sldId id="272" r:id="rId8"/>
    <p:sldId id="276" r:id="rId9"/>
    <p:sldId id="277" r:id="rId10"/>
    <p:sldId id="270" r:id="rId11"/>
    <p:sldId id="266" r:id="rId12"/>
    <p:sldId id="273" r:id="rId13"/>
    <p:sldId id="274" r:id="rId14"/>
    <p:sldId id="275" r:id="rId15"/>
    <p:sldId id="269" r:id="rId16"/>
    <p:sldId id="268" r:id="rId17"/>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6767"/>
    <a:srgbClr val="CC0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396F8-7636-40B8-9F07-7DDBFF38DF3E}" v="526" dt="2026-04-10T02:51:20.531"/>
    <p1510:client id="{3EDD0F2E-67E0-1007-6638-A1C2EA3C940C}" v="131" dt="2026-04-10T00:03:21.857"/>
    <p1510:client id="{76889B9B-6D18-3920-0962-7A702E4A1C59}" v="184" dt="2026-04-10T02:31:04.538"/>
    <p1510:client id="{890DD2F8-4646-66E6-15D9-F2F36A4141C2}" v="256" dt="2026-04-10T02:40:40.686"/>
    <p1510:client id="{8C6E82B9-018C-1CA6-25C3-386307D1581A}" v="151" dt="2026-04-09T23:47:03.032"/>
    <p1510:client id="{A656489F-6E97-8A8D-77AE-0B667E86E68D}" v="15" dt="2026-04-10T02:49:44.507"/>
    <p1510:client id="{BCDD7869-D0FD-A697-551D-8A0191F931A8}" v="7" dt="2026-04-10T01:56:55.983"/>
    <p1510:client id="{C9F21AB3-9CF1-CBA9-D1BE-904436F33827}" v="1354" dt="2026-04-10T02:42:04.783"/>
    <p1510:client id="{F753BBBF-5587-2FF6-CF84-72D88736897B}" v="38" dt="2026-04-10T02:51:28.2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1904" y="17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FE22EE-A2B1-0A40-8F04-A06EE0141CD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CE5E371E-ED29-AE47-81E9-625B202421CD}"/>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endParaRPr lang="en-US" altLang="x-none"/>
          </a:p>
        </p:txBody>
      </p:sp>
      <p:sp>
        <p:nvSpPr>
          <p:cNvPr id="4" name="Footer Placeholder 3">
            <a:extLst>
              <a:ext uri="{FF2B5EF4-FFF2-40B4-BE49-F238E27FC236}">
                <a16:creationId xmlns:a16="http://schemas.microsoft.com/office/drawing/2014/main" id="{F3BF2FAC-91B8-9947-9F8D-CFB4034F60E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8203CE18-8A17-5C49-B768-D14EF4BB638B}"/>
              </a:ext>
            </a:extLst>
          </p:cNvPr>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cs typeface="+mn-cs"/>
              </a:defRPr>
            </a:lvl1pPr>
          </a:lstStyle>
          <a:p>
            <a:pPr>
              <a:defRPr/>
            </a:pPr>
            <a:r>
              <a:rPr lang="en-US" altLang="x-none"/>
              <a:t>IE 5617</a:t>
            </a:r>
            <a:br>
              <a:rPr lang="en-US" altLang="x-none"/>
            </a:br>
            <a:r>
              <a:rPr lang="en-US" altLang="x-none"/>
              <a:t>Graduate Project </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C00E21-D726-6242-A4C5-8B00C13A304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B452BB5-DC68-4147-A690-E314579FD2F3}"/>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endParaRPr lang="en-US" altLang="x-none"/>
          </a:p>
        </p:txBody>
      </p:sp>
      <p:sp>
        <p:nvSpPr>
          <p:cNvPr id="4" name="Slide Image Placeholder 3">
            <a:extLst>
              <a:ext uri="{FF2B5EF4-FFF2-40B4-BE49-F238E27FC236}">
                <a16:creationId xmlns:a16="http://schemas.microsoft.com/office/drawing/2014/main" id="{1E7DBA2A-1AEE-794D-B2B4-552B055DAD2B}"/>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C186364-C6BB-3246-8C3B-8B8AFD22E6D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FE57BB9-9260-8E49-8F22-67B67263DE03}"/>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C4201DDB-B163-E145-B7FB-194648E97BF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262CCA37-0491-4F88-ACDB-6057867989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05" charset="-128"/>
        <a:cs typeface="ＭＳ Ｐゴシック" pitchFamily="-105"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05"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05"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05"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0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Badge system for incentives, measure daily tasks and sprint task progress approved by team leads -&gt; transparency,  implement coaching on an ongoing basis,</a:t>
            </a:r>
            <a:br>
              <a:rPr lang="en-US"/>
            </a:br>
            <a:r>
              <a:rPr lang="en-US" err="1"/>
              <a:t>amz</a:t>
            </a:r>
            <a:r>
              <a:rPr lang="en-US"/>
              <a:t> has feedback on manager? If not, implement, </a:t>
            </a:r>
            <a:br>
              <a:rPr lang="en-US"/>
            </a:br>
            <a:br>
              <a:rPr lang="en-US"/>
            </a:br>
            <a:r>
              <a:rPr lang="en-US"/>
              <a:t>2 weeks wait reviews</a:t>
            </a:r>
            <a:br>
              <a:rPr lang="en-US"/>
            </a:br>
            <a:r>
              <a:rPr lang="en-US"/>
              <a:t>2 weeks manager evaluation</a:t>
            </a:r>
            <a:br>
              <a:rPr lang="en-US"/>
            </a:br>
            <a:endParaRPr lang="en-US"/>
          </a:p>
        </p:txBody>
      </p:sp>
      <p:sp>
        <p:nvSpPr>
          <p:cNvPr id="4" name="Slide Number Placeholder 3"/>
          <p:cNvSpPr>
            <a:spLocks noGrp="1"/>
          </p:cNvSpPr>
          <p:nvPr>
            <p:ph type="sldNum" sz="quarter" idx="5"/>
          </p:nvPr>
        </p:nvSpPr>
        <p:spPr/>
        <p:txBody>
          <a:bodyPr/>
          <a:lstStyle/>
          <a:p>
            <a:pPr>
              <a:defRPr/>
            </a:pPr>
            <a:fld id="{262CCA37-0491-4F88-ACDB-605786798913}" type="slidenum">
              <a:rPr lang="en-US" altLang="x-none" smtClean="0"/>
              <a:pPr>
                <a:defRPr/>
              </a:pPr>
              <a:t>8</a:t>
            </a:fld>
            <a:endParaRPr lang="en-US" altLang="x-none"/>
          </a:p>
        </p:txBody>
      </p:sp>
    </p:spTree>
    <p:extLst>
      <p:ext uri="{BB962C8B-B14F-4D97-AF65-F5344CB8AC3E}">
        <p14:creationId xmlns:p14="http://schemas.microsoft.com/office/powerpoint/2010/main" val="3055346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b="1"/>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D6D6B"/>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B616A8BF-0880-4C61-A492-0D102F67888E}"/>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Footer Placeholder 4">
            <a:extLst>
              <a:ext uri="{FF2B5EF4-FFF2-40B4-BE49-F238E27FC236}">
                <a16:creationId xmlns:a16="http://schemas.microsoft.com/office/drawing/2014/main" id="{82814BD7-4F31-469B-8917-36DA7A69BFFD}"/>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FD61DC48-B933-44EC-8A94-35D8ACC85C54}"/>
              </a:ext>
            </a:extLst>
          </p:cNvPr>
          <p:cNvSpPr>
            <a:spLocks noGrp="1"/>
          </p:cNvSpPr>
          <p:nvPr>
            <p:ph type="sldNum" sz="quarter" idx="12"/>
          </p:nvPr>
        </p:nvSpPr>
        <p:spPr/>
        <p:txBody>
          <a:bodyPr/>
          <a:lstStyle>
            <a:lvl1pPr>
              <a:defRPr/>
            </a:lvl1pPr>
          </a:lstStyle>
          <a:p>
            <a:pPr>
              <a:defRPr/>
            </a:pPr>
            <a:fld id="{97269BB5-6EAB-4753-B1DD-7FD817689FEB}" type="slidenum">
              <a:rPr lang="en-US" altLang="x-none"/>
              <a:pPr>
                <a:defRPr/>
              </a:pPr>
              <a:t>‹#›</a:t>
            </a:fld>
            <a:endParaRPr lang="en-US" altLang="x-none">
              <a:solidFill>
                <a:srgbClr val="88A44D"/>
              </a:solidFill>
            </a:endParaRPr>
          </a:p>
        </p:txBody>
      </p:sp>
    </p:spTree>
    <p:extLst>
      <p:ext uri="{BB962C8B-B14F-4D97-AF65-F5344CB8AC3E}">
        <p14:creationId xmlns:p14="http://schemas.microsoft.com/office/powerpoint/2010/main" val="2880587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6BFC5-EAE3-4686-83C4-3D15B8FAF32B}"/>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Footer Placeholder 4">
            <a:extLst>
              <a:ext uri="{FF2B5EF4-FFF2-40B4-BE49-F238E27FC236}">
                <a16:creationId xmlns:a16="http://schemas.microsoft.com/office/drawing/2014/main" id="{1D32B799-E632-4AA2-A2D4-F032ECF2FD99}"/>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BCDA9AC7-58F3-49CF-BA5A-6E2ACD395137}"/>
              </a:ext>
            </a:extLst>
          </p:cNvPr>
          <p:cNvSpPr>
            <a:spLocks noGrp="1"/>
          </p:cNvSpPr>
          <p:nvPr>
            <p:ph type="sldNum" sz="quarter" idx="12"/>
          </p:nvPr>
        </p:nvSpPr>
        <p:spPr/>
        <p:txBody>
          <a:bodyPr/>
          <a:lstStyle>
            <a:lvl1pPr>
              <a:defRPr/>
            </a:lvl1pPr>
          </a:lstStyle>
          <a:p>
            <a:pPr>
              <a:defRPr/>
            </a:pPr>
            <a:fld id="{8FBC90D9-F1F8-4541-9BCA-BB800019663C}" type="slidenum">
              <a:rPr lang="en-US" altLang="x-none"/>
              <a:pPr>
                <a:defRPr/>
              </a:pPr>
              <a:t>‹#›</a:t>
            </a:fld>
            <a:endParaRPr lang="en-US" altLang="x-none"/>
          </a:p>
        </p:txBody>
      </p:sp>
    </p:spTree>
    <p:extLst>
      <p:ext uri="{BB962C8B-B14F-4D97-AF65-F5344CB8AC3E}">
        <p14:creationId xmlns:p14="http://schemas.microsoft.com/office/powerpoint/2010/main" val="24477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6D6D6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EAB7AC-EC58-439A-A3C5-0299EACEB47D}"/>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Footer Placeholder 4">
            <a:extLst>
              <a:ext uri="{FF2B5EF4-FFF2-40B4-BE49-F238E27FC236}">
                <a16:creationId xmlns:a16="http://schemas.microsoft.com/office/drawing/2014/main" id="{ABEBD4F0-BDA6-4531-86C4-0C79D02D3BF1}"/>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1C13F3AB-75AC-4454-95B8-26E09E4E12D1}"/>
              </a:ext>
            </a:extLst>
          </p:cNvPr>
          <p:cNvSpPr>
            <a:spLocks noGrp="1"/>
          </p:cNvSpPr>
          <p:nvPr>
            <p:ph type="sldNum" sz="quarter" idx="12"/>
          </p:nvPr>
        </p:nvSpPr>
        <p:spPr/>
        <p:txBody>
          <a:bodyPr/>
          <a:lstStyle>
            <a:lvl1pPr>
              <a:defRPr/>
            </a:lvl1pPr>
          </a:lstStyle>
          <a:p>
            <a:pPr>
              <a:defRPr/>
            </a:pPr>
            <a:fld id="{5E0A8DBB-2342-467E-9B8C-17165440B64D}" type="slidenum">
              <a:rPr lang="en-US" altLang="x-none"/>
              <a:pPr>
                <a:defRPr/>
              </a:pPr>
              <a:t>‹#›</a:t>
            </a:fld>
            <a:endParaRPr lang="en-US" altLang="x-none"/>
          </a:p>
        </p:txBody>
      </p:sp>
    </p:spTree>
    <p:extLst>
      <p:ext uri="{BB962C8B-B14F-4D97-AF65-F5344CB8AC3E}">
        <p14:creationId xmlns:p14="http://schemas.microsoft.com/office/powerpoint/2010/main" val="323672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AFD7E6-AA57-4889-BDB8-EACD6C331591}"/>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Footer Placeholder 5">
            <a:extLst>
              <a:ext uri="{FF2B5EF4-FFF2-40B4-BE49-F238E27FC236}">
                <a16:creationId xmlns:a16="http://schemas.microsoft.com/office/drawing/2014/main" id="{BF3CA28F-161E-4E6C-9DD6-608AA68C327D}"/>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F64292F1-B514-4887-AD2D-540058CAC5F7}"/>
              </a:ext>
            </a:extLst>
          </p:cNvPr>
          <p:cNvSpPr>
            <a:spLocks noGrp="1"/>
          </p:cNvSpPr>
          <p:nvPr>
            <p:ph type="sldNum" sz="quarter" idx="12"/>
          </p:nvPr>
        </p:nvSpPr>
        <p:spPr/>
        <p:txBody>
          <a:bodyPr/>
          <a:lstStyle>
            <a:lvl1pPr>
              <a:defRPr/>
            </a:lvl1pPr>
          </a:lstStyle>
          <a:p>
            <a:pPr>
              <a:defRPr/>
            </a:pPr>
            <a:fld id="{B179E7C7-4E86-4A03-B17E-362E8C17F522}" type="slidenum">
              <a:rPr lang="en-US" altLang="x-none"/>
              <a:pPr>
                <a:defRPr/>
              </a:pPr>
              <a:t>‹#›</a:t>
            </a:fld>
            <a:endParaRPr lang="en-US" altLang="x-none"/>
          </a:p>
        </p:txBody>
      </p:sp>
    </p:spTree>
    <p:extLst>
      <p:ext uri="{BB962C8B-B14F-4D97-AF65-F5344CB8AC3E}">
        <p14:creationId xmlns:p14="http://schemas.microsoft.com/office/powerpoint/2010/main" val="589266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52B34F-2997-4B59-BF49-A4CF1247326C}"/>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8" name="Footer Placeholder 7">
            <a:extLst>
              <a:ext uri="{FF2B5EF4-FFF2-40B4-BE49-F238E27FC236}">
                <a16:creationId xmlns:a16="http://schemas.microsoft.com/office/drawing/2014/main" id="{B6283815-0786-48B7-B064-6061950A7CF0}"/>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9" name="Slide Number Placeholder 8">
            <a:extLst>
              <a:ext uri="{FF2B5EF4-FFF2-40B4-BE49-F238E27FC236}">
                <a16:creationId xmlns:a16="http://schemas.microsoft.com/office/drawing/2014/main" id="{3B696097-C8BD-44C6-A74A-CFAE71219B30}"/>
              </a:ext>
            </a:extLst>
          </p:cNvPr>
          <p:cNvSpPr>
            <a:spLocks noGrp="1"/>
          </p:cNvSpPr>
          <p:nvPr>
            <p:ph type="sldNum" sz="quarter" idx="12"/>
          </p:nvPr>
        </p:nvSpPr>
        <p:spPr/>
        <p:txBody>
          <a:bodyPr/>
          <a:lstStyle>
            <a:lvl1pPr>
              <a:defRPr/>
            </a:lvl1pPr>
          </a:lstStyle>
          <a:p>
            <a:pPr>
              <a:defRPr/>
            </a:pPr>
            <a:fld id="{C0C964E7-239F-4166-A7CB-1C5691FB3A0C}" type="slidenum">
              <a:rPr lang="en-US" altLang="x-none"/>
              <a:pPr>
                <a:defRPr/>
              </a:pPr>
              <a:t>‹#›</a:t>
            </a:fld>
            <a:endParaRPr lang="en-US" altLang="x-none"/>
          </a:p>
        </p:txBody>
      </p:sp>
    </p:spTree>
    <p:extLst>
      <p:ext uri="{BB962C8B-B14F-4D97-AF65-F5344CB8AC3E}">
        <p14:creationId xmlns:p14="http://schemas.microsoft.com/office/powerpoint/2010/main" val="1739357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267F63-5EFC-46EC-9A31-56C8077A16F0}"/>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4" name="Footer Placeholder 3">
            <a:extLst>
              <a:ext uri="{FF2B5EF4-FFF2-40B4-BE49-F238E27FC236}">
                <a16:creationId xmlns:a16="http://schemas.microsoft.com/office/drawing/2014/main" id="{04701EA7-A2C5-40D2-B807-F3870BC3B30D}"/>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Slide Number Placeholder 4">
            <a:extLst>
              <a:ext uri="{FF2B5EF4-FFF2-40B4-BE49-F238E27FC236}">
                <a16:creationId xmlns:a16="http://schemas.microsoft.com/office/drawing/2014/main" id="{AB4D74CF-C6F9-4E27-B3CC-3300512B07C4}"/>
              </a:ext>
            </a:extLst>
          </p:cNvPr>
          <p:cNvSpPr>
            <a:spLocks noGrp="1"/>
          </p:cNvSpPr>
          <p:nvPr>
            <p:ph type="sldNum" sz="quarter" idx="12"/>
          </p:nvPr>
        </p:nvSpPr>
        <p:spPr/>
        <p:txBody>
          <a:bodyPr/>
          <a:lstStyle>
            <a:lvl1pPr>
              <a:defRPr/>
            </a:lvl1pPr>
          </a:lstStyle>
          <a:p>
            <a:pPr>
              <a:defRPr/>
            </a:pPr>
            <a:fld id="{1B76696B-D51D-4FC2-A87F-8F5956FD026D}" type="slidenum">
              <a:rPr lang="en-US" altLang="x-none"/>
              <a:pPr>
                <a:defRPr/>
              </a:pPr>
              <a:t>‹#›</a:t>
            </a:fld>
            <a:endParaRPr lang="en-US" altLang="x-none"/>
          </a:p>
        </p:txBody>
      </p:sp>
    </p:spTree>
    <p:extLst>
      <p:ext uri="{BB962C8B-B14F-4D97-AF65-F5344CB8AC3E}">
        <p14:creationId xmlns:p14="http://schemas.microsoft.com/office/powerpoint/2010/main" val="3283877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3561FA-E4DE-4992-B8D7-401AEC7E6153}"/>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3" name="Footer Placeholder 2">
            <a:extLst>
              <a:ext uri="{FF2B5EF4-FFF2-40B4-BE49-F238E27FC236}">
                <a16:creationId xmlns:a16="http://schemas.microsoft.com/office/drawing/2014/main" id="{28362240-281D-48DE-8A50-0FA382C7E994}"/>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4" name="Slide Number Placeholder 3">
            <a:extLst>
              <a:ext uri="{FF2B5EF4-FFF2-40B4-BE49-F238E27FC236}">
                <a16:creationId xmlns:a16="http://schemas.microsoft.com/office/drawing/2014/main" id="{443CDD8D-3DD1-4B50-901A-E9F87FEBC997}"/>
              </a:ext>
            </a:extLst>
          </p:cNvPr>
          <p:cNvSpPr>
            <a:spLocks noGrp="1"/>
          </p:cNvSpPr>
          <p:nvPr>
            <p:ph type="sldNum" sz="quarter" idx="12"/>
          </p:nvPr>
        </p:nvSpPr>
        <p:spPr/>
        <p:txBody>
          <a:bodyPr/>
          <a:lstStyle>
            <a:lvl1pPr>
              <a:defRPr/>
            </a:lvl1pPr>
          </a:lstStyle>
          <a:p>
            <a:pPr>
              <a:defRPr/>
            </a:pPr>
            <a:fld id="{71A5E7D8-EA78-44FD-8E8D-A5712C6F70CB}" type="slidenum">
              <a:rPr lang="en-US" altLang="x-none"/>
              <a:pPr>
                <a:defRPr/>
              </a:pPr>
              <a:t>‹#›</a:t>
            </a:fld>
            <a:endParaRPr lang="en-US" altLang="x-none"/>
          </a:p>
        </p:txBody>
      </p:sp>
    </p:spTree>
    <p:extLst>
      <p:ext uri="{BB962C8B-B14F-4D97-AF65-F5344CB8AC3E}">
        <p14:creationId xmlns:p14="http://schemas.microsoft.com/office/powerpoint/2010/main" val="1256252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435100"/>
            <a:ext cx="3008313" cy="1162050"/>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597150"/>
            <a:ext cx="3008313" cy="35290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0C5A712B-2789-41B2-A6BE-FAC97FD32BF8}"/>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Footer Placeholder 5">
            <a:extLst>
              <a:ext uri="{FF2B5EF4-FFF2-40B4-BE49-F238E27FC236}">
                <a16:creationId xmlns:a16="http://schemas.microsoft.com/office/drawing/2014/main" id="{34F64D9B-6F69-4262-93DC-BE472DD205FA}"/>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CF641C7A-E6D5-4CFE-AD12-3F832D87AAD2}"/>
              </a:ext>
            </a:extLst>
          </p:cNvPr>
          <p:cNvSpPr>
            <a:spLocks noGrp="1"/>
          </p:cNvSpPr>
          <p:nvPr>
            <p:ph type="sldNum" sz="quarter" idx="12"/>
          </p:nvPr>
        </p:nvSpPr>
        <p:spPr/>
        <p:txBody>
          <a:bodyPr/>
          <a:lstStyle>
            <a:lvl1pPr>
              <a:defRPr/>
            </a:lvl1pPr>
          </a:lstStyle>
          <a:p>
            <a:pPr>
              <a:defRPr/>
            </a:pPr>
            <a:fld id="{9979448F-7618-44A0-8E14-3F998C2C42ED}" type="slidenum">
              <a:rPr lang="en-US" altLang="x-none"/>
              <a:pPr>
                <a:defRPr/>
              </a:pPr>
              <a:t>‹#›</a:t>
            </a:fld>
            <a:endParaRPr lang="en-US" altLang="x-none">
              <a:solidFill>
                <a:srgbClr val="88A44D"/>
              </a:solidFill>
            </a:endParaRPr>
          </a:p>
        </p:txBody>
      </p:sp>
    </p:spTree>
    <p:extLst>
      <p:ext uri="{BB962C8B-B14F-4D97-AF65-F5344CB8AC3E}">
        <p14:creationId xmlns:p14="http://schemas.microsoft.com/office/powerpoint/2010/main" val="3752293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0"/>
            </a:lvl1pPr>
          </a:lstStyle>
          <a:p>
            <a:r>
              <a:rPr lang="en-US"/>
              <a:t>Click to edit Master title style</a:t>
            </a:r>
          </a:p>
        </p:txBody>
      </p:sp>
      <p:sp>
        <p:nvSpPr>
          <p:cNvPr id="3" name="Picture Placeholder 2"/>
          <p:cNvSpPr>
            <a:spLocks noGrp="1"/>
          </p:cNvSpPr>
          <p:nvPr>
            <p:ph type="pic" idx="1"/>
          </p:nvPr>
        </p:nvSpPr>
        <p:spPr>
          <a:xfrm>
            <a:off x="1792288" y="1493297"/>
            <a:ext cx="5486400" cy="3234277"/>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AC332FDB-DD52-45BF-BE5A-1467BF58C467}"/>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Footer Placeholder 5">
            <a:extLst>
              <a:ext uri="{FF2B5EF4-FFF2-40B4-BE49-F238E27FC236}">
                <a16:creationId xmlns:a16="http://schemas.microsoft.com/office/drawing/2014/main" id="{DF5FC308-8D7A-4E6E-8A15-C910EAD6709E}"/>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7F579906-F365-4F09-818E-B2A11155FD6A}"/>
              </a:ext>
            </a:extLst>
          </p:cNvPr>
          <p:cNvSpPr>
            <a:spLocks noGrp="1"/>
          </p:cNvSpPr>
          <p:nvPr>
            <p:ph type="sldNum" sz="quarter" idx="12"/>
          </p:nvPr>
        </p:nvSpPr>
        <p:spPr/>
        <p:txBody>
          <a:bodyPr/>
          <a:lstStyle>
            <a:lvl1pPr>
              <a:defRPr/>
            </a:lvl1pPr>
          </a:lstStyle>
          <a:p>
            <a:pPr>
              <a:defRPr/>
            </a:pPr>
            <a:fld id="{09204B69-5E52-4854-B822-3005DC87C40D}" type="slidenum">
              <a:rPr lang="en-US" altLang="x-none"/>
              <a:pPr>
                <a:defRPr/>
              </a:pPr>
              <a:t>‹#›</a:t>
            </a:fld>
            <a:endParaRPr lang="en-US" altLang="x-none"/>
          </a:p>
        </p:txBody>
      </p:sp>
    </p:spTree>
    <p:extLst>
      <p:ext uri="{BB962C8B-B14F-4D97-AF65-F5344CB8AC3E}">
        <p14:creationId xmlns:p14="http://schemas.microsoft.com/office/powerpoint/2010/main" val="3925733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329C9F-C38F-47BA-9951-EA6920F406C0}"/>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Footer Placeholder 4">
            <a:extLst>
              <a:ext uri="{FF2B5EF4-FFF2-40B4-BE49-F238E27FC236}">
                <a16:creationId xmlns:a16="http://schemas.microsoft.com/office/drawing/2014/main" id="{2264F1D0-D5FC-4C9D-85AC-3A0F1508E6C1}"/>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647F4EEF-83D5-4F82-9E33-44DB38EB10F9}"/>
              </a:ext>
            </a:extLst>
          </p:cNvPr>
          <p:cNvSpPr>
            <a:spLocks noGrp="1"/>
          </p:cNvSpPr>
          <p:nvPr>
            <p:ph type="sldNum" sz="quarter" idx="12"/>
          </p:nvPr>
        </p:nvSpPr>
        <p:spPr/>
        <p:txBody>
          <a:bodyPr/>
          <a:lstStyle>
            <a:lvl1pPr>
              <a:defRPr/>
            </a:lvl1pPr>
          </a:lstStyle>
          <a:p>
            <a:pPr>
              <a:defRPr/>
            </a:pPr>
            <a:fld id="{EA8F87A5-43EC-480A-A3EF-7B71805DDE15}" type="slidenum">
              <a:rPr lang="en-US" altLang="x-none"/>
              <a:pPr>
                <a:defRPr/>
              </a:pPr>
              <a:t>‹#›</a:t>
            </a:fld>
            <a:endParaRPr lang="en-US" altLang="x-none"/>
          </a:p>
        </p:txBody>
      </p:sp>
    </p:spTree>
    <p:extLst>
      <p:ext uri="{BB962C8B-B14F-4D97-AF65-F5344CB8AC3E}">
        <p14:creationId xmlns:p14="http://schemas.microsoft.com/office/powerpoint/2010/main" val="2492101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F55CD9-0D88-4A5B-8D19-E0BD3EC9CBA6}"/>
              </a:ext>
            </a:extLst>
          </p:cNvPr>
          <p:cNvSpPr>
            <a:spLocks noGrp="1"/>
          </p:cNvSpPr>
          <p:nvPr>
            <p:ph type="dt" sz="half" idx="10"/>
          </p:nvPr>
        </p:nvSpPr>
        <p:spPr>
          <a:xfrm>
            <a:off x="457200" y="6356350"/>
            <a:ext cx="2133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5" name="Footer Placeholder 4">
            <a:extLst>
              <a:ext uri="{FF2B5EF4-FFF2-40B4-BE49-F238E27FC236}">
                <a16:creationId xmlns:a16="http://schemas.microsoft.com/office/drawing/2014/main" id="{9DDB0BE1-EB51-4307-97C4-06F05BF38CF2}"/>
              </a:ext>
            </a:extLst>
          </p:cNvPr>
          <p:cNvSpPr>
            <a:spLocks noGrp="1"/>
          </p:cNvSpPr>
          <p:nvPr>
            <p:ph type="ftr" sz="quarter" idx="11"/>
          </p:nvPr>
        </p:nvSpPr>
        <p:spPr>
          <a:xfrm>
            <a:off x="3124200" y="6356350"/>
            <a:ext cx="2895600" cy="365125"/>
          </a:xfrm>
          <a:prstGeom prst="rect">
            <a:avLst/>
          </a:prstGeo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58BBA4E1-3850-4371-994B-570D3CB3F5B6}"/>
              </a:ext>
            </a:extLst>
          </p:cNvPr>
          <p:cNvSpPr>
            <a:spLocks noGrp="1"/>
          </p:cNvSpPr>
          <p:nvPr>
            <p:ph type="sldNum" sz="quarter" idx="12"/>
          </p:nvPr>
        </p:nvSpPr>
        <p:spPr/>
        <p:txBody>
          <a:bodyPr/>
          <a:lstStyle>
            <a:lvl1pPr>
              <a:defRPr/>
            </a:lvl1pPr>
          </a:lstStyle>
          <a:p>
            <a:pPr>
              <a:defRPr/>
            </a:pPr>
            <a:fld id="{BADFA337-3B53-4DD8-807A-EFDA6F68D8F3}" type="slidenum">
              <a:rPr lang="en-US" altLang="x-none"/>
              <a:pPr>
                <a:defRPr/>
              </a:pPr>
              <a:t>‹#›</a:t>
            </a:fld>
            <a:endParaRPr lang="en-US" altLang="x-none"/>
          </a:p>
        </p:txBody>
      </p:sp>
    </p:spTree>
    <p:extLst>
      <p:ext uri="{BB962C8B-B14F-4D97-AF65-F5344CB8AC3E}">
        <p14:creationId xmlns:p14="http://schemas.microsoft.com/office/powerpoint/2010/main" val="3032209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7A6E724-1C8F-4557-B3DC-8336612B59AA}"/>
              </a:ext>
            </a:extLst>
          </p:cNvPr>
          <p:cNvSpPr>
            <a:spLocks noGrp="1"/>
          </p:cNvSpPr>
          <p:nvPr>
            <p:ph type="title"/>
          </p:nvPr>
        </p:nvSpPr>
        <p:spPr bwMode="auto">
          <a:xfrm>
            <a:off x="2209800" y="274638"/>
            <a:ext cx="6477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12B3BF7-6EFB-42F4-883D-3561A826E6A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5">
            <a:extLst>
              <a:ext uri="{FF2B5EF4-FFF2-40B4-BE49-F238E27FC236}">
                <a16:creationId xmlns:a16="http://schemas.microsoft.com/office/drawing/2014/main" id="{4FA01D42-E8D1-E94F-B18C-7B21DFEDD77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6D6D6B"/>
                </a:solidFill>
                <a:latin typeface="Calibri" charset="0"/>
                <a:ea typeface="ＭＳ Ｐゴシック" charset="-128"/>
              </a:defRPr>
            </a:lvl1pPr>
          </a:lstStyle>
          <a:p>
            <a:pPr>
              <a:defRPr/>
            </a:pPr>
            <a:fld id="{F9AE17D2-0039-4CB8-9C37-F4EEB46B9D21}" type="slidenum">
              <a:rPr lang="en-US" altLang="x-none"/>
              <a:pPr>
                <a:defRPr/>
              </a:pPr>
              <a:t>‹#›</a:t>
            </a:fld>
            <a:endParaRPr lang="en-US" altLang="x-none"/>
          </a:p>
        </p:txBody>
      </p:sp>
      <p:sp>
        <p:nvSpPr>
          <p:cNvPr id="1030" name="TextBox 7">
            <a:extLst>
              <a:ext uri="{FF2B5EF4-FFF2-40B4-BE49-F238E27FC236}">
                <a16:creationId xmlns:a16="http://schemas.microsoft.com/office/drawing/2014/main" id="{49286DE3-2510-DB41-9D0D-FD0316189C06}"/>
              </a:ext>
            </a:extLst>
          </p:cNvPr>
          <p:cNvSpPr txBox="1">
            <a:spLocks noChangeArrowheads="1"/>
          </p:cNvSpPr>
          <p:nvPr/>
        </p:nvSpPr>
        <p:spPr bwMode="auto">
          <a:xfrm>
            <a:off x="6616700" y="6356350"/>
            <a:ext cx="187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altLang="en-US" sz="1200">
                <a:solidFill>
                  <a:srgbClr val="6D6D6B"/>
                </a:solidFill>
                <a:latin typeface="Calibri" panose="020F0502020204030204" pitchFamily="34" charset="0"/>
              </a:rPr>
              <a:t>Slide   </a:t>
            </a:r>
          </a:p>
        </p:txBody>
      </p:sp>
      <p:sp>
        <p:nvSpPr>
          <p:cNvPr id="9" name="Footer Placeholder 4">
            <a:extLst>
              <a:ext uri="{FF2B5EF4-FFF2-40B4-BE49-F238E27FC236}">
                <a16:creationId xmlns:a16="http://schemas.microsoft.com/office/drawing/2014/main" id="{D88F420A-B2DD-2448-8857-7CF939B42980}"/>
              </a:ext>
            </a:extLst>
          </p:cNvPr>
          <p:cNvSpPr txBox="1">
            <a:spLocks/>
          </p:cNvSpPr>
          <p:nvPr/>
        </p:nvSpPr>
        <p:spPr>
          <a:xfrm>
            <a:off x="3124200" y="6361113"/>
            <a:ext cx="2895600" cy="365125"/>
          </a:xfrm>
          <a:prstGeom prst="rect">
            <a:avLst/>
          </a:prstGeom>
        </p:spPr>
        <p:txBody>
          <a:bodyPr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defRPr/>
            </a:pPr>
            <a:r>
              <a:rPr lang="en-US" altLang="x-none" sz="1200">
                <a:solidFill>
                  <a:srgbClr val="6D6D6B"/>
                </a:solidFill>
                <a:latin typeface="Calibri" charset="0"/>
              </a:rPr>
              <a:t>IE 5617</a:t>
            </a:r>
            <a:r>
              <a:rPr lang="en-US" altLang="en-US" sz="1200">
                <a:solidFill>
                  <a:srgbClr val="6D6D6B"/>
                </a:solidFill>
                <a:latin typeface="Calibri" panose="020F0502020204030204" pitchFamily="34" charset="0"/>
              </a:rPr>
              <a:t> Graduate Project</a:t>
            </a:r>
            <a:endParaRPr lang="en-US" altLang="x-none" sz="1200">
              <a:solidFill>
                <a:srgbClr val="6D6D6B"/>
              </a:solidFill>
              <a:latin typeface="Calibri" charset="0"/>
            </a:endParaRPr>
          </a:p>
        </p:txBody>
      </p:sp>
      <p:sp>
        <p:nvSpPr>
          <p:cNvPr id="1032" name="TextBox 10">
            <a:extLst>
              <a:ext uri="{FF2B5EF4-FFF2-40B4-BE49-F238E27FC236}">
                <a16:creationId xmlns:a16="http://schemas.microsoft.com/office/drawing/2014/main" id="{A4CA8CDA-1161-0F4F-88C9-1F6C45774940}"/>
              </a:ext>
            </a:extLst>
          </p:cNvPr>
          <p:cNvSpPr txBox="1">
            <a:spLocks noChangeArrowheads="1"/>
          </p:cNvSpPr>
          <p:nvPr/>
        </p:nvSpPr>
        <p:spPr bwMode="auto">
          <a:xfrm>
            <a:off x="457200" y="6361113"/>
            <a:ext cx="28590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latin typeface="Calibri" panose="020F0502020204030204" pitchFamily="34" charset="0"/>
            </a:endParaRPr>
          </a:p>
        </p:txBody>
      </p:sp>
      <p:pic>
        <p:nvPicPr>
          <p:cNvPr id="7" name="Picture 6" descr="Logo, company name&#10;&#10;Description automatically generated">
            <a:extLst>
              <a:ext uri="{FF2B5EF4-FFF2-40B4-BE49-F238E27FC236}">
                <a16:creationId xmlns:a16="http://schemas.microsoft.com/office/drawing/2014/main" id="{F7EC768F-72A7-3342-8AF6-17F778065EDF}"/>
              </a:ext>
            </a:extLst>
          </p:cNvPr>
          <p:cNvPicPr>
            <a:picLocks noChangeAspect="1"/>
          </p:cNvPicPr>
          <p:nvPr userDrawn="1"/>
        </p:nvPicPr>
        <p:blipFill>
          <a:blip r:embed="rId13"/>
          <a:stretch>
            <a:fillRect/>
          </a:stretch>
        </p:blipFill>
        <p:spPr>
          <a:xfrm>
            <a:off x="357664" y="81598"/>
            <a:ext cx="1529080" cy="1529080"/>
          </a:xfrm>
          <a:prstGeom prst="rect">
            <a:avLst/>
          </a:prstGeom>
        </p:spPr>
      </p:pic>
    </p:spTree>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hf hdr="0" ftr="0" dt="0"/>
  <p:txStyles>
    <p:titleStyle>
      <a:lvl1pPr algn="r" defTabSz="457200" rtl="0" eaLnBrk="0" fontAlgn="base" hangingPunct="0">
        <a:spcBef>
          <a:spcPct val="0"/>
        </a:spcBef>
        <a:spcAft>
          <a:spcPct val="0"/>
        </a:spcAft>
        <a:defRPr sz="3600" b="1" kern="1200">
          <a:solidFill>
            <a:schemeClr val="tx1"/>
          </a:solidFill>
          <a:latin typeface="Arial"/>
          <a:ea typeface="ＭＳ Ｐゴシック" pitchFamily="-105" charset="-128"/>
          <a:cs typeface="Arial"/>
        </a:defRPr>
      </a:lvl1pPr>
      <a:lvl2pPr algn="r" defTabSz="457200" rtl="0" eaLnBrk="0" fontAlgn="base" hangingPunct="0">
        <a:spcBef>
          <a:spcPct val="0"/>
        </a:spcBef>
        <a:spcAft>
          <a:spcPct val="0"/>
        </a:spcAft>
        <a:defRPr sz="3600" b="1">
          <a:solidFill>
            <a:schemeClr val="tx1"/>
          </a:solidFill>
          <a:latin typeface="Arial" pitchFamily="-105" charset="0"/>
          <a:ea typeface="ＭＳ Ｐゴシック" pitchFamily="-105" charset="-128"/>
          <a:cs typeface="Arial" panose="020B0604020202020204" pitchFamily="34" charset="0"/>
        </a:defRPr>
      </a:lvl2pPr>
      <a:lvl3pPr algn="r" defTabSz="457200" rtl="0" eaLnBrk="0" fontAlgn="base" hangingPunct="0">
        <a:spcBef>
          <a:spcPct val="0"/>
        </a:spcBef>
        <a:spcAft>
          <a:spcPct val="0"/>
        </a:spcAft>
        <a:defRPr sz="3600" b="1">
          <a:solidFill>
            <a:schemeClr val="tx1"/>
          </a:solidFill>
          <a:latin typeface="Arial" pitchFamily="-105" charset="0"/>
          <a:ea typeface="ＭＳ Ｐゴシック" pitchFamily="-105" charset="-128"/>
          <a:cs typeface="Arial" panose="020B0604020202020204" pitchFamily="34" charset="0"/>
        </a:defRPr>
      </a:lvl3pPr>
      <a:lvl4pPr algn="r" defTabSz="457200" rtl="0" eaLnBrk="0" fontAlgn="base" hangingPunct="0">
        <a:spcBef>
          <a:spcPct val="0"/>
        </a:spcBef>
        <a:spcAft>
          <a:spcPct val="0"/>
        </a:spcAft>
        <a:defRPr sz="3600" b="1">
          <a:solidFill>
            <a:schemeClr val="tx1"/>
          </a:solidFill>
          <a:latin typeface="Arial" pitchFamily="-105" charset="0"/>
          <a:ea typeface="ＭＳ Ｐゴシック" pitchFamily="-105" charset="-128"/>
          <a:cs typeface="Arial" panose="020B0604020202020204" pitchFamily="34" charset="0"/>
        </a:defRPr>
      </a:lvl4pPr>
      <a:lvl5pPr algn="r" defTabSz="457200" rtl="0" eaLnBrk="0" fontAlgn="base" hangingPunct="0">
        <a:spcBef>
          <a:spcPct val="0"/>
        </a:spcBef>
        <a:spcAft>
          <a:spcPct val="0"/>
        </a:spcAft>
        <a:defRPr sz="3600" b="1">
          <a:solidFill>
            <a:schemeClr val="tx1"/>
          </a:solidFill>
          <a:latin typeface="Arial" pitchFamily="-105" charset="0"/>
          <a:ea typeface="ＭＳ Ｐゴシック" pitchFamily="-105" charset="-128"/>
          <a:cs typeface="Arial" panose="020B0604020202020204" pitchFamily="34" charset="0"/>
        </a:defRPr>
      </a:lvl5pPr>
      <a:lvl6pPr marL="457200" algn="r" defTabSz="457200" rtl="0" fontAlgn="base">
        <a:spcBef>
          <a:spcPct val="0"/>
        </a:spcBef>
        <a:spcAft>
          <a:spcPct val="0"/>
        </a:spcAft>
        <a:defRPr sz="3600" b="1">
          <a:solidFill>
            <a:schemeClr val="tx1"/>
          </a:solidFill>
          <a:latin typeface="Arial" pitchFamily="-105" charset="0"/>
          <a:ea typeface="ＭＳ Ｐゴシック" pitchFamily="-105" charset="-128"/>
        </a:defRPr>
      </a:lvl6pPr>
      <a:lvl7pPr marL="914400" algn="r" defTabSz="457200" rtl="0" fontAlgn="base">
        <a:spcBef>
          <a:spcPct val="0"/>
        </a:spcBef>
        <a:spcAft>
          <a:spcPct val="0"/>
        </a:spcAft>
        <a:defRPr sz="3600" b="1">
          <a:solidFill>
            <a:schemeClr val="tx1"/>
          </a:solidFill>
          <a:latin typeface="Arial" pitchFamily="-105" charset="0"/>
          <a:ea typeface="ＭＳ Ｐゴシック" pitchFamily="-105" charset="-128"/>
        </a:defRPr>
      </a:lvl7pPr>
      <a:lvl8pPr marL="1371600" algn="r" defTabSz="457200" rtl="0" fontAlgn="base">
        <a:spcBef>
          <a:spcPct val="0"/>
        </a:spcBef>
        <a:spcAft>
          <a:spcPct val="0"/>
        </a:spcAft>
        <a:defRPr sz="3600" b="1">
          <a:solidFill>
            <a:schemeClr val="tx1"/>
          </a:solidFill>
          <a:latin typeface="Arial" pitchFamily="-105" charset="0"/>
          <a:ea typeface="ＭＳ Ｐゴシック" pitchFamily="-105" charset="-128"/>
        </a:defRPr>
      </a:lvl8pPr>
      <a:lvl9pPr marL="1828800" algn="r" defTabSz="457200" rtl="0" fontAlgn="base">
        <a:spcBef>
          <a:spcPct val="0"/>
        </a:spcBef>
        <a:spcAft>
          <a:spcPct val="0"/>
        </a:spcAft>
        <a:defRPr sz="3600" b="1">
          <a:solidFill>
            <a:schemeClr val="tx1"/>
          </a:solidFill>
          <a:latin typeface="Arial" pitchFamily="-105" charset="0"/>
          <a:ea typeface="ＭＳ Ｐゴシック" pitchFamily="-105"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a:ea typeface="ＭＳ Ｐゴシック" pitchFamily="-105"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ＭＳ Ｐゴシック" pitchFamily="-105" charset="-128"/>
          <a:cs typeface="Arial"/>
        </a:defRPr>
      </a:lvl2pPr>
      <a:lvl3pPr marL="1143000" indent="-228600" algn="l" defTabSz="457200" rtl="0" eaLnBrk="0" fontAlgn="base" hangingPunct="0">
        <a:spcBef>
          <a:spcPct val="20000"/>
        </a:spcBef>
        <a:spcAft>
          <a:spcPct val="0"/>
        </a:spcAft>
        <a:buFont typeface="Lucida Grande" pitchFamily="4" charset="0"/>
        <a:buChar char="–"/>
        <a:defRPr sz="2400" kern="1200">
          <a:solidFill>
            <a:schemeClr val="tx1"/>
          </a:solidFill>
          <a:latin typeface="Arial"/>
          <a:ea typeface="ＭＳ Ｐゴシック" pitchFamily="-105"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pitchFamily="-105"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ＭＳ Ｐゴシック" pitchFamily="-105"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3" name="Slide Number Placeholder 6">
            <a:extLst>
              <a:ext uri="{FF2B5EF4-FFF2-40B4-BE49-F238E27FC236}">
                <a16:creationId xmlns:a16="http://schemas.microsoft.com/office/drawing/2014/main" id="{435628F2-3D19-B86C-750D-4D70FB3FDC2B}"/>
              </a:ext>
            </a:extLst>
          </p:cNvPr>
          <p:cNvSpPr>
            <a:spLocks noGrp="1"/>
          </p:cNvSpPr>
          <p:nvPr>
            <p:ph type="sldNum" sz="quarter" idx="12"/>
          </p:nvPr>
        </p:nvSpPr>
        <p:spPr>
          <a:xfrm>
            <a:off x="6553200" y="6356350"/>
            <a:ext cx="2133600" cy="365125"/>
          </a:xfrm>
        </p:spPr>
        <p:txBody>
          <a:bodyPr/>
          <a:lstStyle/>
          <a:p>
            <a:pPr>
              <a:spcAft>
                <a:spcPts val="600"/>
              </a:spcAft>
              <a:defRPr/>
            </a:pPr>
            <a:fld id="{C0C964E7-239F-4166-A7CB-1C5691FB3A0C}" type="slidenum">
              <a:rPr lang="en-US" altLang="x-none"/>
              <a:pPr>
                <a:spcAft>
                  <a:spcPts val="600"/>
                </a:spcAft>
                <a:defRPr/>
              </a:pPr>
              <a:t>1</a:t>
            </a:fld>
            <a:endParaRPr lang="en-US" altLang="x-none"/>
          </a:p>
        </p:txBody>
      </p:sp>
      <p:sp>
        <p:nvSpPr>
          <p:cNvPr id="7" name="TextBox 6">
            <a:extLst>
              <a:ext uri="{FF2B5EF4-FFF2-40B4-BE49-F238E27FC236}">
                <a16:creationId xmlns:a16="http://schemas.microsoft.com/office/drawing/2014/main" id="{1E4D7596-E080-3B09-743D-7E9DF84C6C47}"/>
              </a:ext>
            </a:extLst>
          </p:cNvPr>
          <p:cNvSpPr txBox="1"/>
          <p:nvPr/>
        </p:nvSpPr>
        <p:spPr>
          <a:xfrm>
            <a:off x="1981200" y="330200"/>
            <a:ext cx="5650088"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2400" b="1" kern="1200">
                <a:solidFill>
                  <a:srgbClr val="1A1A1A"/>
                </a:solidFill>
                <a:latin typeface="Georgia"/>
                <a:ea typeface="Georgia"/>
                <a:cs typeface="Georgia"/>
              </a:rPr>
              <a:t>Lean Analysis of Amazon's</a:t>
            </a:r>
          </a:p>
          <a:p>
            <a:pPr marL="0" indent="0" algn="l" rtl="0"/>
            <a:r>
              <a:rPr lang="en-US" sz="2400" b="1" kern="1200">
                <a:solidFill>
                  <a:srgbClr val="1A1A1A"/>
                </a:solidFill>
                <a:latin typeface="Georgia"/>
                <a:ea typeface="Georgia"/>
                <a:cs typeface="Georgia"/>
              </a:rPr>
              <a:t>Performance Evaluation System</a:t>
            </a:r>
          </a:p>
          <a:p>
            <a:pPr algn="ctr"/>
            <a:endParaRPr lang="en-GB"/>
          </a:p>
        </p:txBody>
      </p:sp>
      <p:sp>
        <p:nvSpPr>
          <p:cNvPr id="8" name="TextBox 7">
            <a:extLst>
              <a:ext uri="{FF2B5EF4-FFF2-40B4-BE49-F238E27FC236}">
                <a16:creationId xmlns:a16="http://schemas.microsoft.com/office/drawing/2014/main" id="{7E70648E-1881-9FB7-D4C1-CC642DF95E56}"/>
              </a:ext>
            </a:extLst>
          </p:cNvPr>
          <p:cNvSpPr txBox="1"/>
          <p:nvPr/>
        </p:nvSpPr>
        <p:spPr>
          <a:xfrm>
            <a:off x="1981200" y="1080911"/>
            <a:ext cx="627097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1200" i="1" kern="1200">
                <a:solidFill>
                  <a:srgbClr val="666666"/>
                </a:solidFill>
                <a:latin typeface="Calibri"/>
                <a:ea typeface="+mn-ea"/>
                <a:cs typeface="+mn-cs"/>
              </a:rPr>
              <a:t>Aditya Girish Anand  |  Bharat Bandi  |  Karishma Bahl  |  Daksh Panchal  |  Sangeetha Phaneesh</a:t>
            </a:r>
            <a:endParaRPr lang="en-US" sz="1200" i="1" kern="1200">
              <a:solidFill>
                <a:srgbClr val="666666"/>
              </a:solidFill>
              <a:latin typeface="Calibri"/>
              <a:ea typeface="Calibri"/>
              <a:cs typeface="Calibri"/>
            </a:endParaRPr>
          </a:p>
        </p:txBody>
      </p:sp>
      <p:pic>
        <p:nvPicPr>
          <p:cNvPr id="9" name="Picture 8" descr="A white rectangular object with blue edges&#10;&#10;AI-generated content may be incorrect.">
            <a:extLst>
              <a:ext uri="{FF2B5EF4-FFF2-40B4-BE49-F238E27FC236}">
                <a16:creationId xmlns:a16="http://schemas.microsoft.com/office/drawing/2014/main" id="{2A69B956-13A8-6731-7E9C-84CBD3EC6957}"/>
              </a:ext>
            </a:extLst>
          </p:cNvPr>
          <p:cNvPicPr>
            <a:picLocks noChangeAspect="1"/>
          </p:cNvPicPr>
          <p:nvPr/>
        </p:nvPicPr>
        <p:blipFill>
          <a:blip r:embed="rId2"/>
          <a:stretch>
            <a:fillRect/>
          </a:stretch>
        </p:blipFill>
        <p:spPr>
          <a:xfrm>
            <a:off x="129822" y="1542278"/>
            <a:ext cx="8794045" cy="832687"/>
          </a:xfrm>
          <a:prstGeom prst="rect">
            <a:avLst/>
          </a:prstGeom>
        </p:spPr>
      </p:pic>
      <p:sp>
        <p:nvSpPr>
          <p:cNvPr id="10" name="TextBox 9">
            <a:extLst>
              <a:ext uri="{FF2B5EF4-FFF2-40B4-BE49-F238E27FC236}">
                <a16:creationId xmlns:a16="http://schemas.microsoft.com/office/drawing/2014/main" id="{1C87B21B-05FF-CEE0-0D51-7A42F1A7A354}"/>
              </a:ext>
            </a:extLst>
          </p:cNvPr>
          <p:cNvSpPr txBox="1"/>
          <p:nvPr/>
        </p:nvSpPr>
        <p:spPr>
          <a:xfrm>
            <a:off x="135468" y="1543755"/>
            <a:ext cx="878275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just" rtl="0"/>
            <a:r>
              <a:rPr lang="en-US" sz="1200" b="1" kern="1200">
                <a:solidFill>
                  <a:srgbClr val="1E40AF"/>
                </a:solidFill>
                <a:latin typeface="Times New Roman"/>
                <a:ea typeface="Calibri"/>
                <a:cs typeface="Times New Roman"/>
              </a:rPr>
              <a:t>About This Analysis:</a:t>
            </a:r>
            <a:r>
              <a:rPr lang="en-US" sz="1100" b="1" kern="1200">
                <a:solidFill>
                  <a:srgbClr val="1E40AF"/>
                </a:solidFill>
                <a:latin typeface="Times New Roman"/>
                <a:ea typeface="Calibri"/>
                <a:cs typeface="Times New Roman"/>
              </a:rPr>
              <a:t> </a:t>
            </a:r>
            <a:r>
              <a:rPr lang="en-US" sz="1200" kern="1200">
                <a:solidFill>
                  <a:srgbClr val="1E3A5F"/>
                </a:solidFill>
                <a:latin typeface="Times New Roman"/>
                <a:ea typeface="Calibri"/>
                <a:cs typeface="Times New Roman"/>
              </a:rPr>
              <a:t>This is an original Lean analysis conducted by our team. We collected and coded 60 employee testimonials from 12 public platforms (Blind, Glassdoor, Hacker News, Daily Beast, Seattle Times, and others) and applied Lean tools — VSM, Muda/Mura/Muri, 5 Whys Root Cause Analysis, and Pareto Analysis to evaluate Amazon's OLR performance evaluation system. All findings, process maps, and improvement recommendations are our own work based on these primary and secondary sources.</a:t>
            </a:r>
          </a:p>
        </p:txBody>
      </p:sp>
      <p:sp>
        <p:nvSpPr>
          <p:cNvPr id="11" name="TextBox 10">
            <a:extLst>
              <a:ext uri="{FF2B5EF4-FFF2-40B4-BE49-F238E27FC236}">
                <a16:creationId xmlns:a16="http://schemas.microsoft.com/office/drawing/2014/main" id="{0FAAFBA9-27C4-AD82-D1FB-D1EF61CC0008}"/>
              </a:ext>
            </a:extLst>
          </p:cNvPr>
          <p:cNvSpPr txBox="1"/>
          <p:nvPr/>
        </p:nvSpPr>
        <p:spPr>
          <a:xfrm>
            <a:off x="124524" y="3028890"/>
            <a:ext cx="243583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rtl="0"/>
            <a:r>
              <a:rPr lang="en-US" sz="2000" b="1" kern="1200">
                <a:solidFill>
                  <a:srgbClr val="C00000"/>
                </a:solidFill>
                <a:latin typeface="Times New Roman"/>
                <a:ea typeface="Georgia"/>
                <a:cs typeface="Times New Roman"/>
              </a:rPr>
              <a:t>Problem Statement</a:t>
            </a:r>
          </a:p>
        </p:txBody>
      </p:sp>
      <p:pic>
        <p:nvPicPr>
          <p:cNvPr id="15" name="Picture 14" descr="A screenshot of a data report&#10;&#10;AI-generated content may be incorrect.">
            <a:extLst>
              <a:ext uri="{FF2B5EF4-FFF2-40B4-BE49-F238E27FC236}">
                <a16:creationId xmlns:a16="http://schemas.microsoft.com/office/drawing/2014/main" id="{CBA244DF-B202-1938-7BB9-2B3A9689B42B}"/>
              </a:ext>
            </a:extLst>
          </p:cNvPr>
          <p:cNvPicPr>
            <a:picLocks noChangeAspect="1"/>
          </p:cNvPicPr>
          <p:nvPr/>
        </p:nvPicPr>
        <p:blipFill>
          <a:blip r:embed="rId3"/>
          <a:stretch>
            <a:fillRect/>
          </a:stretch>
        </p:blipFill>
        <p:spPr>
          <a:xfrm>
            <a:off x="3198044" y="2576664"/>
            <a:ext cx="5728180" cy="3526744"/>
          </a:xfrm>
          <a:prstGeom prst="rect">
            <a:avLst/>
          </a:prstGeom>
        </p:spPr>
      </p:pic>
      <p:sp>
        <p:nvSpPr>
          <p:cNvPr id="16" name="TextBox 15">
            <a:extLst>
              <a:ext uri="{FF2B5EF4-FFF2-40B4-BE49-F238E27FC236}">
                <a16:creationId xmlns:a16="http://schemas.microsoft.com/office/drawing/2014/main" id="{046C8A11-B201-9F1E-872D-27EADB6B4476}"/>
              </a:ext>
            </a:extLst>
          </p:cNvPr>
          <p:cNvSpPr txBox="1"/>
          <p:nvPr/>
        </p:nvSpPr>
        <p:spPr>
          <a:xfrm>
            <a:off x="3032342" y="6103364"/>
            <a:ext cx="6161164"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50" b="1" i="1" kern="1200">
                <a:solidFill>
                  <a:schemeClr val="tx2"/>
                </a:solidFill>
                <a:latin typeface="Calibri"/>
                <a:ea typeface="Calibri"/>
                <a:cs typeface="Calibri"/>
              </a:rPr>
              <a:t>60 testimonials across 12 source platforms — 137 problem </a:t>
            </a:r>
            <a:r>
              <a:rPr lang="en-US" sz="1050" b="1" i="1">
                <a:solidFill>
                  <a:schemeClr val="tx2"/>
                </a:solidFill>
                <a:latin typeface="Calibri"/>
                <a:ea typeface="Calibri"/>
                <a:cs typeface="Calibri"/>
              </a:rPr>
              <a:t>mentions; identified</a:t>
            </a:r>
            <a:r>
              <a:rPr lang="en-US" sz="1050" b="1" i="1" kern="1200">
                <a:solidFill>
                  <a:schemeClr val="tx2"/>
                </a:solidFill>
                <a:latin typeface="Calibri"/>
                <a:ea typeface="Calibri"/>
                <a:cs typeface="Calibri"/>
              </a:rPr>
              <a:t> 7 waste categories</a:t>
            </a:r>
          </a:p>
        </p:txBody>
      </p:sp>
      <p:sp>
        <p:nvSpPr>
          <p:cNvPr id="17" name="TextBox 16">
            <a:extLst>
              <a:ext uri="{FF2B5EF4-FFF2-40B4-BE49-F238E27FC236}">
                <a16:creationId xmlns:a16="http://schemas.microsoft.com/office/drawing/2014/main" id="{AD877597-56ED-5E26-BD8B-5F8496AF1DCB}"/>
              </a:ext>
            </a:extLst>
          </p:cNvPr>
          <p:cNvSpPr txBox="1"/>
          <p:nvPr/>
        </p:nvSpPr>
        <p:spPr>
          <a:xfrm>
            <a:off x="138929" y="3428999"/>
            <a:ext cx="2819302"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a:solidFill>
                  <a:srgbClr val="000000"/>
                </a:solidFill>
                <a:latin typeface="Times New Roman"/>
                <a:ea typeface="ＭＳ Ｐゴシック"/>
                <a:cs typeface="Segoe UI"/>
              </a:rPr>
              <a:t>Amazon's performance evaluation </a:t>
            </a:r>
            <a:r>
              <a:rPr lang="en-US" sz="1500" err="1">
                <a:solidFill>
                  <a:srgbClr val="000000"/>
                </a:solidFill>
                <a:latin typeface="Times New Roman"/>
                <a:ea typeface="ＭＳ Ｐゴシック"/>
                <a:cs typeface="Segoe UI"/>
              </a:rPr>
              <a:t>syste</a:t>
            </a:r>
            <a:r>
              <a:rPr lang="en-US" sz="1500">
                <a:solidFill>
                  <a:srgbClr val="000000"/>
                </a:solidFill>
                <a:latin typeface="Times New Roman"/>
                <a:ea typeface="ＭＳ Ｐゴシック"/>
                <a:cs typeface="Segoe UI"/>
              </a:rPr>
              <a:t>m uses </a:t>
            </a:r>
            <a:r>
              <a:rPr lang="en-US" sz="1500" err="1">
                <a:solidFill>
                  <a:srgbClr val="000000"/>
                </a:solidFill>
                <a:latin typeface="Times New Roman"/>
                <a:ea typeface="ＭＳ Ｐゴシック"/>
                <a:cs typeface="Segoe UI"/>
              </a:rPr>
              <a:t>stac</a:t>
            </a:r>
            <a:r>
              <a:rPr lang="en-US" sz="1500">
                <a:solidFill>
                  <a:srgbClr val="000000"/>
                </a:solidFill>
                <a:latin typeface="Times New Roman"/>
                <a:ea typeface="ＭＳ Ｐゴシック"/>
                <a:cs typeface="Segoe UI"/>
              </a:rPr>
              <a:t>k ranking and forced distributions to rate employees. Analyzed through 60 employee testimonials from 12 platforms using a Lean lens, it reveals significant process waste affecting fairness, morale, and talent retention</a:t>
            </a:r>
            <a:endParaRPr lang="en-US" sz="1500">
              <a:cs typeface="Arial" panose="020B0604020202020204" pitchFamily="34" charset="0"/>
            </a:endParaRPr>
          </a:p>
          <a:p>
            <a:pPr algn="ctr"/>
            <a:endParaRPr lang="en-GB"/>
          </a:p>
        </p:txBody>
      </p:sp>
    </p:spTree>
    <p:extLst>
      <p:ext uri="{BB962C8B-B14F-4D97-AF65-F5344CB8AC3E}">
        <p14:creationId xmlns:p14="http://schemas.microsoft.com/office/powerpoint/2010/main" val="185660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3">
            <a:extLst>
              <a:ext uri="{FF2B5EF4-FFF2-40B4-BE49-F238E27FC236}">
                <a16:creationId xmlns:a16="http://schemas.microsoft.com/office/drawing/2014/main" id="{B081D050-7BCF-4BD9-BAB6-2B7F1D828F35}"/>
              </a:ext>
            </a:extLst>
          </p:cNvPr>
          <p:cNvSpPr>
            <a:spLocks noGrp="1"/>
          </p:cNvSpPr>
          <p:nvPr>
            <p:ph type="title"/>
          </p:nvPr>
        </p:nvSpPr>
        <p:spPr>
          <a:xfrm>
            <a:off x="2286728" y="-190764"/>
            <a:ext cx="6477000" cy="1143000"/>
          </a:xfrm>
        </p:spPr>
        <p:txBody>
          <a:bodyPr/>
          <a:lstStyle/>
          <a:p>
            <a:pPr eaLnBrk="1" hangingPunct="1"/>
            <a:r>
              <a:rPr lang="en-US" altLang="en-US" sz="3300" b="1">
                <a:latin typeface="Times New Roman"/>
                <a:ea typeface="ＭＳ Ｐゴシック"/>
                <a:cs typeface="Times New Roman"/>
              </a:rPr>
              <a:t>Background &amp; Current State</a:t>
            </a:r>
          </a:p>
        </p:txBody>
      </p:sp>
      <p:sp>
        <p:nvSpPr>
          <p:cNvPr id="16386" name="Content Placeholder 5">
            <a:extLst>
              <a:ext uri="{FF2B5EF4-FFF2-40B4-BE49-F238E27FC236}">
                <a16:creationId xmlns:a16="http://schemas.microsoft.com/office/drawing/2014/main" id="{34EA447B-E223-413B-AA80-70065FB0D872}"/>
              </a:ext>
            </a:extLst>
          </p:cNvPr>
          <p:cNvSpPr>
            <a:spLocks noGrp="1"/>
          </p:cNvSpPr>
          <p:nvPr>
            <p:ph sz="half" idx="1"/>
          </p:nvPr>
        </p:nvSpPr>
        <p:spPr>
          <a:xfrm>
            <a:off x="225163" y="1695510"/>
            <a:ext cx="3845645" cy="3227495"/>
          </a:xfrm>
        </p:spPr>
        <p:txBody>
          <a:bodyPr>
            <a:normAutofit/>
          </a:bodyPr>
          <a:lstStyle/>
          <a:p>
            <a:pPr algn="just" eaLnBrk="1" hangingPunct="1">
              <a:buNone/>
            </a:pPr>
            <a:r>
              <a:rPr lang="en-US" altLang="en-US" sz="1400" b="1">
                <a:solidFill>
                  <a:srgbClr val="C00000"/>
                </a:solidFill>
                <a:latin typeface="Times New Roman"/>
                <a:ea typeface="ＭＳ Ｐゴシック"/>
                <a:cs typeface="Times New Roman"/>
              </a:rPr>
              <a:t>Context</a:t>
            </a:r>
            <a:endParaRPr lang="en-US"/>
          </a:p>
          <a:p>
            <a:pPr algn="just" eaLnBrk="1" hangingPunct="1">
              <a:buNone/>
            </a:pPr>
            <a:r>
              <a:rPr lang="en-US" altLang="en-US" sz="1100">
                <a:latin typeface="Times New Roman"/>
                <a:ea typeface="ＭＳ Ｐゴシック"/>
                <a:cs typeface="Times New Roman"/>
              </a:rPr>
              <a:t>Amazon’s OLR (Overall Leadership Review) is an annual</a:t>
            </a:r>
          </a:p>
          <a:p>
            <a:pPr algn="just">
              <a:buNone/>
            </a:pPr>
            <a:r>
              <a:rPr lang="en-US" altLang="en-US" sz="1100">
                <a:latin typeface="Times New Roman"/>
                <a:ea typeface="ＭＳ Ｐゴシック"/>
                <a:cs typeface="Times New Roman"/>
              </a:rPr>
              <a:t>performance cycle using stack ranking and forced distribution.</a:t>
            </a:r>
            <a:endParaRPr lang="en-US" sz="1100">
              <a:latin typeface="Times New Roman"/>
              <a:cs typeface="Times New Roman"/>
            </a:endParaRPr>
          </a:p>
          <a:p>
            <a:pPr algn="just">
              <a:buNone/>
            </a:pPr>
            <a:r>
              <a:rPr lang="en-US" altLang="en-US" sz="1100">
                <a:latin typeface="Times New Roman"/>
                <a:ea typeface="ＭＳ Ｐゴシック"/>
                <a:cs typeface="Times New Roman"/>
              </a:rPr>
              <a:t>Managers rate employees against 16 Leadership Principles using</a:t>
            </a:r>
            <a:endParaRPr lang="en-US" sz="1100">
              <a:latin typeface="Times New Roman"/>
              <a:cs typeface="Times New Roman"/>
            </a:endParaRPr>
          </a:p>
          <a:p>
            <a:pPr algn="just">
              <a:buNone/>
            </a:pPr>
            <a:r>
              <a:rPr lang="en-US" altLang="en-US" sz="1100">
                <a:latin typeface="Times New Roman"/>
                <a:ea typeface="ＭＳ Ｐゴシック"/>
                <a:cs typeface="Times New Roman"/>
              </a:rPr>
              <a:t>the Forte tool, but the real rating is determined in calibration</a:t>
            </a:r>
            <a:endParaRPr lang="en-US" sz="1100">
              <a:latin typeface="Times New Roman"/>
              <a:cs typeface="Times New Roman"/>
            </a:endParaRPr>
          </a:p>
          <a:p>
            <a:pPr algn="just">
              <a:buNone/>
            </a:pPr>
            <a:r>
              <a:rPr lang="en-US" altLang="en-US" sz="1100">
                <a:latin typeface="Times New Roman"/>
                <a:ea typeface="ＭＳ Ｐゴシック"/>
                <a:cs typeface="Times New Roman"/>
              </a:rPr>
              <a:t>meetings.</a:t>
            </a:r>
            <a:endParaRPr lang="en-US" sz="1100">
              <a:latin typeface="Times New Roman"/>
              <a:cs typeface="Times New Roman"/>
            </a:endParaRPr>
          </a:p>
          <a:p>
            <a:pPr algn="just" eaLnBrk="1" hangingPunct="1">
              <a:spcBef>
                <a:spcPts val="500"/>
              </a:spcBef>
              <a:buNone/>
            </a:pPr>
            <a:endParaRPr lang="en-US" altLang="en-US" sz="1400" b="1">
              <a:latin typeface="Times New Roman"/>
              <a:ea typeface="ＭＳ Ｐゴシック"/>
              <a:cs typeface="Times New Roman"/>
            </a:endParaRPr>
          </a:p>
          <a:p>
            <a:pPr>
              <a:spcBef>
                <a:spcPts val="500"/>
              </a:spcBef>
              <a:buNone/>
            </a:pPr>
            <a:r>
              <a:rPr lang="en-US" altLang="en-US" sz="1400" b="1">
                <a:solidFill>
                  <a:srgbClr val="C00000"/>
                </a:solidFill>
                <a:latin typeface="Times New Roman"/>
                <a:ea typeface="ＭＳ Ｐゴシック"/>
                <a:cs typeface="Times New Roman"/>
              </a:rPr>
              <a:t>Current State Process (4 Phases)</a:t>
            </a:r>
            <a:endParaRPr lang="en-US">
              <a:solidFill>
                <a:srgbClr val="C00000"/>
              </a:solidFill>
              <a:latin typeface="Times New Roman"/>
              <a:ea typeface="ＭＳ Ｐゴシック"/>
              <a:cs typeface="Times New Roman"/>
            </a:endParaRPr>
          </a:p>
          <a:p>
            <a:pPr marL="171450" indent="-171450" eaLnBrk="1" hangingPunct="1">
              <a:buFont typeface="Arial"/>
              <a:buChar char="•"/>
            </a:pPr>
            <a:r>
              <a:rPr lang="en-US" altLang="en-US" sz="1100" b="1">
                <a:latin typeface="Times New Roman"/>
                <a:ea typeface="ＭＳ Ｐゴシック"/>
                <a:cs typeface="Times New Roman"/>
              </a:rPr>
              <a:t>Phase 1 – Feedback Collection</a:t>
            </a:r>
            <a:r>
              <a:rPr lang="en-US" altLang="en-US" sz="1100">
                <a:latin typeface="Times New Roman"/>
                <a:ea typeface="ＭＳ Ｐゴシック"/>
                <a:cs typeface="Times New Roman"/>
              </a:rPr>
              <a:t> (12 </a:t>
            </a:r>
            <a:r>
              <a:rPr lang="en-US" altLang="en-US" sz="1100" err="1">
                <a:latin typeface="Times New Roman"/>
                <a:ea typeface="ＭＳ Ｐゴシック"/>
                <a:cs typeface="Times New Roman"/>
              </a:rPr>
              <a:t>weeks</a:t>
            </a:r>
            <a:r>
              <a:rPr lang="en-US" altLang="en-US" sz="1100">
                <a:latin typeface="Times New Roman"/>
                <a:ea typeface="ＭＳ Ｐゴシック"/>
                <a:cs typeface="Times New Roman"/>
              </a:rPr>
              <a:t>, Nov–Jan)</a:t>
            </a:r>
          </a:p>
          <a:p>
            <a:pPr marL="171450" indent="-171450" eaLnBrk="1" hangingPunct="1">
              <a:buFont typeface="Arial"/>
              <a:buChar char="•"/>
            </a:pPr>
            <a:r>
              <a:rPr lang="en-US" altLang="en-US" sz="1100" b="1">
                <a:latin typeface="Times New Roman"/>
                <a:ea typeface="ＭＳ Ｐゴシック"/>
                <a:cs typeface="Times New Roman"/>
              </a:rPr>
              <a:t>Phase 2 – Calibration &amp; Rating</a:t>
            </a:r>
            <a:r>
              <a:rPr lang="en-US" altLang="en-US" sz="1100">
                <a:latin typeface="Times New Roman"/>
                <a:ea typeface="ＭＳ Ｐゴシック"/>
                <a:cs typeface="Times New Roman"/>
              </a:rPr>
              <a:t> (4 </a:t>
            </a:r>
            <a:r>
              <a:rPr lang="en-US" altLang="en-US" sz="1100" err="1">
                <a:latin typeface="Times New Roman"/>
                <a:ea typeface="ＭＳ Ｐゴシック"/>
                <a:cs typeface="Times New Roman"/>
              </a:rPr>
              <a:t>weeks</a:t>
            </a:r>
            <a:r>
              <a:rPr lang="en-US" altLang="en-US" sz="1100">
                <a:latin typeface="Times New Roman"/>
                <a:ea typeface="ＭＳ Ｐゴシック"/>
                <a:cs typeface="Times New Roman"/>
              </a:rPr>
              <a:t>, Feb–Mar)</a:t>
            </a:r>
          </a:p>
          <a:p>
            <a:pPr marL="171450" indent="-171450" eaLnBrk="1" hangingPunct="1">
              <a:buFont typeface="Arial"/>
              <a:buChar char="•"/>
            </a:pPr>
            <a:r>
              <a:rPr lang="en-US" altLang="en-US" sz="1100" b="1">
                <a:latin typeface="Times New Roman"/>
                <a:ea typeface="ＭＳ Ｐゴシック"/>
                <a:cs typeface="Times New Roman"/>
              </a:rPr>
              <a:t>Phase 3 – Rating Outcomes </a:t>
            </a:r>
            <a:r>
              <a:rPr lang="en-US" altLang="en-US" sz="1100">
                <a:latin typeface="Times New Roman"/>
                <a:ea typeface="ＭＳ Ｐゴシック"/>
                <a:cs typeface="Times New Roman"/>
              </a:rPr>
              <a:t>(2 </a:t>
            </a:r>
            <a:r>
              <a:rPr lang="en-US" altLang="en-US" sz="1100" err="1">
                <a:latin typeface="Times New Roman"/>
                <a:ea typeface="ＭＳ Ｐゴシック"/>
                <a:cs typeface="Times New Roman"/>
              </a:rPr>
              <a:t>weeks</a:t>
            </a:r>
            <a:r>
              <a:rPr lang="en-US" altLang="en-US" sz="1100">
                <a:latin typeface="Times New Roman"/>
                <a:ea typeface="ＭＳ Ｐゴシック"/>
                <a:cs typeface="Times New Roman"/>
              </a:rPr>
              <a:t> in April)</a:t>
            </a:r>
          </a:p>
          <a:p>
            <a:pPr marL="171450" indent="-171450" eaLnBrk="1" hangingPunct="1">
              <a:buFont typeface="Arial"/>
              <a:buChar char="•"/>
            </a:pPr>
            <a:r>
              <a:rPr lang="en-US" altLang="en-US" sz="1100" b="1">
                <a:latin typeface="Times New Roman"/>
                <a:ea typeface="ＭＳ Ｐゴシック"/>
                <a:cs typeface="Times New Roman"/>
              </a:rPr>
              <a:t>Phase 4 – Performance Support </a:t>
            </a:r>
            <a:r>
              <a:rPr lang="en-US" altLang="en-US" sz="1100">
                <a:latin typeface="Times New Roman"/>
                <a:ea typeface="ＭＳ Ｐゴシック"/>
                <a:cs typeface="Times New Roman"/>
              </a:rPr>
              <a:t>(3 </a:t>
            </a:r>
            <a:r>
              <a:rPr lang="en-US" altLang="en-US" sz="1100" err="1">
                <a:latin typeface="Times New Roman"/>
                <a:ea typeface="ＭＳ Ｐゴシック"/>
                <a:cs typeface="Times New Roman"/>
              </a:rPr>
              <a:t>weeks</a:t>
            </a:r>
            <a:r>
              <a:rPr lang="en-US" altLang="en-US" sz="1100">
                <a:latin typeface="Times New Roman"/>
                <a:ea typeface="ＭＳ Ｐゴシック"/>
                <a:cs typeface="Times New Roman"/>
              </a:rPr>
              <a:t>, Apr-May)</a:t>
            </a:r>
          </a:p>
        </p:txBody>
      </p:sp>
      <p:pic>
        <p:nvPicPr>
          <p:cNvPr id="3" name="Picture 2" descr="A diagram of a company&#10;&#10;AI-generated content may be incorrect.">
            <a:extLst>
              <a:ext uri="{FF2B5EF4-FFF2-40B4-BE49-F238E27FC236}">
                <a16:creationId xmlns:a16="http://schemas.microsoft.com/office/drawing/2014/main" id="{E0D00722-7F6A-65AC-C0C9-F2FF3A616848}"/>
              </a:ext>
            </a:extLst>
          </p:cNvPr>
          <p:cNvPicPr>
            <a:picLocks noChangeAspect="1"/>
          </p:cNvPicPr>
          <p:nvPr/>
        </p:nvPicPr>
        <p:blipFill>
          <a:blip r:embed="rId2"/>
          <a:stretch>
            <a:fillRect/>
          </a:stretch>
        </p:blipFill>
        <p:spPr>
          <a:xfrm>
            <a:off x="5073194" y="660750"/>
            <a:ext cx="3123354" cy="5599289"/>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4C8658AA-C540-8CC4-7C4C-555166842576}"/>
              </a:ext>
            </a:extLst>
          </p:cNvPr>
          <p:cNvSpPr txBox="1"/>
          <p:nvPr/>
        </p:nvSpPr>
        <p:spPr>
          <a:xfrm>
            <a:off x="223444" y="4775017"/>
            <a:ext cx="4468871" cy="1485022"/>
          </a:xfrm>
          <a:prstGeom prst="rect">
            <a:avLst/>
          </a:prstGeom>
          <a:solidFill>
            <a:schemeClr val="bg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725"/>
              </a:lnSpc>
            </a:pPr>
            <a:r>
              <a:rPr lang="en-US" sz="1200" b="1" baseline="0">
                <a:solidFill>
                  <a:srgbClr val="C00000"/>
                </a:solidFill>
                <a:latin typeface="Times New Roman"/>
                <a:ea typeface="Segoe UI"/>
                <a:cs typeface="Segoe UI"/>
              </a:rPr>
              <a:t>Key Issue</a:t>
            </a:r>
            <a:r>
              <a:rPr lang="en-US" sz="1200">
                <a:latin typeface="Times New Roman"/>
                <a:ea typeface="Segoe UI"/>
                <a:cs typeface="Segoe UI"/>
              </a:rPr>
              <a:t>​</a:t>
            </a:r>
          </a:p>
          <a:p>
            <a:pPr algn="just" rtl="0">
              <a:lnSpc>
                <a:spcPts val="1350"/>
              </a:lnSpc>
            </a:pPr>
            <a:r>
              <a:rPr lang="en-US" sz="1200" baseline="0">
                <a:solidFill>
                  <a:srgbClr val="000000"/>
                </a:solidFill>
                <a:latin typeface="Times New Roman"/>
                <a:ea typeface="Segoe UI"/>
                <a:cs typeface="Segoe UI"/>
              </a:rPr>
              <a:t>Employees see a simplified rating (Exceeds/Meets/Needs</a:t>
            </a:r>
            <a:r>
              <a:rPr lang="en-US" sz="1200">
                <a:latin typeface="Times New Roman"/>
                <a:ea typeface="Segoe UI"/>
                <a:cs typeface="Segoe UI"/>
              </a:rPr>
              <a:t>​</a:t>
            </a:r>
          </a:p>
          <a:p>
            <a:pPr algn="just" rtl="0">
              <a:lnSpc>
                <a:spcPts val="1350"/>
              </a:lnSpc>
            </a:pPr>
            <a:r>
              <a:rPr lang="en-US" sz="1200" baseline="0">
                <a:solidFill>
                  <a:srgbClr val="000000"/>
                </a:solidFill>
                <a:latin typeface="Times New Roman"/>
                <a:ea typeface="Segoe UI"/>
                <a:cs typeface="Segoe UI"/>
              </a:rPr>
              <a:t>Improvement) while the real OV rating (LE/HV1/HV2/HV3/TT) that</a:t>
            </a:r>
            <a:r>
              <a:rPr lang="en-US" sz="1200">
                <a:latin typeface="Times New Roman"/>
                <a:ea typeface="Segoe UI"/>
                <a:cs typeface="Segoe UI"/>
              </a:rPr>
              <a:t>​</a:t>
            </a:r>
          </a:p>
          <a:p>
            <a:pPr algn="just" rtl="0">
              <a:lnSpc>
                <a:spcPts val="1350"/>
              </a:lnSpc>
            </a:pPr>
            <a:r>
              <a:rPr lang="en-US" sz="1200" baseline="0">
                <a:solidFill>
                  <a:srgbClr val="000000"/>
                </a:solidFill>
                <a:latin typeface="Times New Roman"/>
                <a:ea typeface="Segoe UI"/>
                <a:cs typeface="Segoe UI"/>
              </a:rPr>
              <a:t>determines compensation and career path remains hidden. There is</a:t>
            </a:r>
            <a:r>
              <a:rPr lang="en-US" sz="1200">
                <a:latin typeface="Times New Roman"/>
                <a:ea typeface="Segoe UI"/>
                <a:cs typeface="Segoe UI"/>
              </a:rPr>
              <a:t>​</a:t>
            </a:r>
          </a:p>
          <a:p>
            <a:pPr algn="just" rtl="0">
              <a:lnSpc>
                <a:spcPts val="1350"/>
              </a:lnSpc>
            </a:pPr>
            <a:r>
              <a:rPr lang="en-US" sz="1200" baseline="0">
                <a:solidFill>
                  <a:srgbClr val="000000"/>
                </a:solidFill>
                <a:latin typeface="Times New Roman"/>
                <a:ea typeface="Segoe UI"/>
                <a:cs typeface="Segoe UI"/>
              </a:rPr>
              <a:t>no standardization of documents in the upstream process which</a:t>
            </a:r>
            <a:r>
              <a:rPr lang="en-US" sz="1200">
                <a:latin typeface="Times New Roman"/>
                <a:ea typeface="Segoe UI"/>
                <a:cs typeface="Segoe UI"/>
              </a:rPr>
              <a:t>​</a:t>
            </a:r>
          </a:p>
          <a:p>
            <a:pPr algn="just" rtl="0">
              <a:lnSpc>
                <a:spcPts val="1350"/>
              </a:lnSpc>
            </a:pPr>
            <a:r>
              <a:rPr lang="en-US" sz="1200" baseline="0">
                <a:solidFill>
                  <a:srgbClr val="000000"/>
                </a:solidFill>
                <a:latin typeface="Times New Roman"/>
                <a:ea typeface="Segoe UI"/>
                <a:cs typeface="Segoe UI"/>
              </a:rPr>
              <a:t>causes hinderance in the downstream.</a:t>
            </a:r>
          </a:p>
          <a:p>
            <a:pPr algn="ctr"/>
            <a:endParaRPr lang="en-US"/>
          </a:p>
        </p:txBody>
      </p:sp>
    </p:spTree>
    <p:extLst>
      <p:ext uri="{BB962C8B-B14F-4D97-AF65-F5344CB8AC3E}">
        <p14:creationId xmlns:p14="http://schemas.microsoft.com/office/powerpoint/2010/main" val="1163150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48D7-34E6-9FAE-0339-4C45E665CBAD}"/>
            </a:ext>
          </a:extLst>
        </p:cNvPr>
        <p:cNvGrpSpPr/>
        <p:nvPr/>
      </p:nvGrpSpPr>
      <p:grpSpPr>
        <a:xfrm>
          <a:off x="0" y="0"/>
          <a:ext cx="0" cy="0"/>
          <a:chOff x="0" y="0"/>
          <a:chExt cx="0" cy="0"/>
        </a:xfrm>
      </p:grpSpPr>
      <p:sp>
        <p:nvSpPr>
          <p:cNvPr id="16386" name="Content Placeholder 5">
            <a:extLst>
              <a:ext uri="{FF2B5EF4-FFF2-40B4-BE49-F238E27FC236}">
                <a16:creationId xmlns:a16="http://schemas.microsoft.com/office/drawing/2014/main" id="{DBF3C5F3-B81E-1CEE-36CD-856452C8C3AC}"/>
              </a:ext>
            </a:extLst>
          </p:cNvPr>
          <p:cNvSpPr>
            <a:spLocks noGrp="1"/>
          </p:cNvSpPr>
          <p:nvPr>
            <p:ph sz="half" idx="1"/>
          </p:nvPr>
        </p:nvSpPr>
        <p:spPr>
          <a:xfrm>
            <a:off x="457876" y="6122738"/>
            <a:ext cx="8234019" cy="246299"/>
          </a:xfrm>
        </p:spPr>
        <p:txBody>
          <a:bodyPr>
            <a:noAutofit/>
          </a:bodyPr>
          <a:lstStyle/>
          <a:p>
            <a:pPr marL="0" indent="0" algn="ctr" eaLnBrk="1" hangingPunct="1">
              <a:buNone/>
            </a:pPr>
            <a:r>
              <a:rPr lang="en-US" altLang="en-US" sz="1200">
                <a:latin typeface="Times New Roman"/>
                <a:ea typeface="ＭＳ Ｐゴシック"/>
                <a:cs typeface="Times New Roman"/>
              </a:rPr>
              <a:t>(12 weeks, November–January) Self-assessment, peer feedback, manager evaluation, 16 ALP scoring</a:t>
            </a:r>
            <a:endParaRPr lang="en-US" altLang="en-US" sz="1200" b="1">
              <a:latin typeface="Times New Roman"/>
              <a:ea typeface="ＭＳ Ｐゴシック"/>
              <a:cs typeface="Times New Roman"/>
            </a:endParaRPr>
          </a:p>
        </p:txBody>
      </p:sp>
      <p:pic>
        <p:nvPicPr>
          <p:cNvPr id="3" name="Picture 2" descr="A diagram of a company&#10;&#10;AI-generated content may be incorrect.">
            <a:extLst>
              <a:ext uri="{FF2B5EF4-FFF2-40B4-BE49-F238E27FC236}">
                <a16:creationId xmlns:a16="http://schemas.microsoft.com/office/drawing/2014/main" id="{94D1BA5F-3A59-0221-1A04-51267D719B4D}"/>
              </a:ext>
            </a:extLst>
          </p:cNvPr>
          <p:cNvPicPr>
            <a:picLocks noChangeAspect="1"/>
          </p:cNvPicPr>
          <p:nvPr/>
        </p:nvPicPr>
        <p:blipFill>
          <a:blip r:embed="rId2"/>
          <a:srcRect b="69445"/>
          <a:stretch>
            <a:fillRect/>
          </a:stretch>
        </p:blipFill>
        <p:spPr>
          <a:xfrm>
            <a:off x="457912" y="1430028"/>
            <a:ext cx="8234100" cy="4510344"/>
          </a:xfrm>
          <a:prstGeom prst="rect">
            <a:avLst/>
          </a:prstGeom>
          <a:ln>
            <a:noFill/>
          </a:ln>
          <a:effectLst>
            <a:outerShdw blurRad="292100" dist="139700" dir="2700000" algn="tl" rotWithShape="0">
              <a:srgbClr val="333333">
                <a:alpha val="65000"/>
              </a:srgbClr>
            </a:outerShdw>
          </a:effectLst>
        </p:spPr>
      </p:pic>
      <p:sp>
        <p:nvSpPr>
          <p:cNvPr id="4" name="Star: 7 Points 3">
            <a:extLst>
              <a:ext uri="{FF2B5EF4-FFF2-40B4-BE49-F238E27FC236}">
                <a16:creationId xmlns:a16="http://schemas.microsoft.com/office/drawing/2014/main" id="{BDD5F44C-E09D-3A84-2D2F-D83B4C6F4898}"/>
              </a:ext>
            </a:extLst>
          </p:cNvPr>
          <p:cNvSpPr/>
          <p:nvPr/>
        </p:nvSpPr>
        <p:spPr>
          <a:xfrm>
            <a:off x="4688500" y="2523664"/>
            <a:ext cx="284313" cy="266700"/>
          </a:xfrm>
          <a:prstGeom prst="star7">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Star: 7 Points 4">
            <a:extLst>
              <a:ext uri="{FF2B5EF4-FFF2-40B4-BE49-F238E27FC236}">
                <a16:creationId xmlns:a16="http://schemas.microsoft.com/office/drawing/2014/main" id="{01A86318-CEF6-DA52-29F8-74CDA6319996}"/>
              </a:ext>
            </a:extLst>
          </p:cNvPr>
          <p:cNvSpPr/>
          <p:nvPr/>
        </p:nvSpPr>
        <p:spPr>
          <a:xfrm>
            <a:off x="4829879" y="3228037"/>
            <a:ext cx="284313" cy="266700"/>
          </a:xfrm>
          <a:prstGeom prst="star7">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D86687B-C44B-97E2-9279-762C23E2D442}"/>
              </a:ext>
            </a:extLst>
          </p:cNvPr>
          <p:cNvSpPr txBox="1"/>
          <p:nvPr/>
        </p:nvSpPr>
        <p:spPr>
          <a:xfrm>
            <a:off x="2398040" y="602632"/>
            <a:ext cx="610504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a:solidFill>
                  <a:srgbClr val="CC0100"/>
                </a:solidFill>
                <a:latin typeface="Times New Roman"/>
                <a:ea typeface="ＭＳ Ｐゴシック"/>
              </a:rPr>
              <a:t>Phase 1 – Feedback Collection</a:t>
            </a:r>
            <a:endParaRPr lang="en-US" sz="2800">
              <a:solidFill>
                <a:srgbClr val="CC0100"/>
              </a:solidFill>
              <a:latin typeface="Times New Roman"/>
              <a:ea typeface="ＭＳ Ｐゴシック"/>
              <a:cs typeface="Times New Roman"/>
            </a:endParaRPr>
          </a:p>
        </p:txBody>
      </p:sp>
    </p:spTree>
    <p:extLst>
      <p:ext uri="{BB962C8B-B14F-4D97-AF65-F5344CB8AC3E}">
        <p14:creationId xmlns:p14="http://schemas.microsoft.com/office/powerpoint/2010/main" val="59559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D6C17-464A-B0B3-E460-2F9426EB5810}"/>
            </a:ext>
          </a:extLst>
        </p:cNvPr>
        <p:cNvGrpSpPr/>
        <p:nvPr/>
      </p:nvGrpSpPr>
      <p:grpSpPr>
        <a:xfrm>
          <a:off x="0" y="0"/>
          <a:ext cx="0" cy="0"/>
          <a:chOff x="0" y="0"/>
          <a:chExt cx="0" cy="0"/>
        </a:xfrm>
      </p:grpSpPr>
      <p:sp>
        <p:nvSpPr>
          <p:cNvPr id="16386" name="Content Placeholder 5">
            <a:extLst>
              <a:ext uri="{FF2B5EF4-FFF2-40B4-BE49-F238E27FC236}">
                <a16:creationId xmlns:a16="http://schemas.microsoft.com/office/drawing/2014/main" id="{A82EFFFA-34F5-97F6-3794-AFAA46C0A963}"/>
              </a:ext>
            </a:extLst>
          </p:cNvPr>
          <p:cNvSpPr>
            <a:spLocks noGrp="1"/>
          </p:cNvSpPr>
          <p:nvPr>
            <p:ph sz="half" idx="1"/>
          </p:nvPr>
        </p:nvSpPr>
        <p:spPr>
          <a:xfrm>
            <a:off x="300877" y="5899357"/>
            <a:ext cx="8542925" cy="301028"/>
          </a:xfrm>
        </p:spPr>
        <p:txBody>
          <a:bodyPr vert="horz" wrap="square" lIns="91440" tIns="45720" rIns="91440" bIns="45720" numCol="1" anchor="t" anchorCtr="0" compatLnSpc="1">
            <a:prstTxWarp prst="textNoShape">
              <a:avLst/>
            </a:prstTxWarp>
            <a:noAutofit/>
          </a:bodyPr>
          <a:lstStyle/>
          <a:p>
            <a:pPr algn="ctr">
              <a:spcBef>
                <a:spcPts val="500"/>
              </a:spcBef>
              <a:buNone/>
            </a:pPr>
            <a:r>
              <a:rPr lang="en-US" altLang="en-US" sz="1200" b="1">
                <a:latin typeface="Times New Roman"/>
                <a:ea typeface="ＭＳ Ｐゴシック"/>
                <a:cs typeface="Times New Roman"/>
              </a:rPr>
              <a:t>	 </a:t>
            </a:r>
            <a:r>
              <a:rPr lang="en-US" altLang="en-US" sz="1200">
                <a:latin typeface="Times New Roman"/>
                <a:ea typeface="ＭＳ Ｐゴシック"/>
                <a:cs typeface="Times New Roman"/>
              </a:rPr>
              <a:t>(4 weeks, February – March): DLR meetings, forced distribution check, OV rating assigned</a:t>
            </a:r>
            <a:endParaRPr lang="en-US"/>
          </a:p>
          <a:p>
            <a:pPr eaLnBrk="1" hangingPunct="1">
              <a:spcBef>
                <a:spcPts val="500"/>
              </a:spcBef>
              <a:buNone/>
            </a:pPr>
            <a:endParaRPr lang="en-US" altLang="en-US" sz="1200" b="1">
              <a:latin typeface="Times New Roman"/>
              <a:ea typeface="ＭＳ Ｐゴシック"/>
              <a:cs typeface="Times New Roman"/>
            </a:endParaRPr>
          </a:p>
        </p:txBody>
      </p:sp>
      <p:pic>
        <p:nvPicPr>
          <p:cNvPr id="3" name="Picture 2" descr="A diagram of a company&#10;&#10;AI-generated content may be incorrect.">
            <a:extLst>
              <a:ext uri="{FF2B5EF4-FFF2-40B4-BE49-F238E27FC236}">
                <a16:creationId xmlns:a16="http://schemas.microsoft.com/office/drawing/2014/main" id="{490E3292-56E4-6428-4BBE-114D3B0753D9}"/>
              </a:ext>
            </a:extLst>
          </p:cNvPr>
          <p:cNvPicPr>
            <a:picLocks noChangeAspect="1"/>
          </p:cNvPicPr>
          <p:nvPr/>
        </p:nvPicPr>
        <p:blipFill>
          <a:blip r:embed="rId2"/>
          <a:srcRect t="29523" r="12312" b="47837"/>
          <a:stretch>
            <a:fillRect/>
          </a:stretch>
        </p:blipFill>
        <p:spPr>
          <a:xfrm>
            <a:off x="297455" y="1603482"/>
            <a:ext cx="8544169" cy="3954839"/>
          </a:xfrm>
          <a:prstGeom prst="rect">
            <a:avLst/>
          </a:prstGeom>
          <a:ln>
            <a:noFill/>
          </a:ln>
          <a:effectLst>
            <a:outerShdw blurRad="292100" dist="139700" dir="2700000" algn="tl" rotWithShape="0">
              <a:srgbClr val="333333">
                <a:alpha val="65000"/>
              </a:srgbClr>
            </a:outerShdw>
          </a:effectLst>
        </p:spPr>
      </p:pic>
      <p:sp>
        <p:nvSpPr>
          <p:cNvPr id="2" name="Star: 7 Points 1">
            <a:extLst>
              <a:ext uri="{FF2B5EF4-FFF2-40B4-BE49-F238E27FC236}">
                <a16:creationId xmlns:a16="http://schemas.microsoft.com/office/drawing/2014/main" id="{1B950651-71E6-D541-CD4F-2E73E6630280}"/>
              </a:ext>
            </a:extLst>
          </p:cNvPr>
          <p:cNvSpPr/>
          <p:nvPr/>
        </p:nvSpPr>
        <p:spPr>
          <a:xfrm>
            <a:off x="5209557" y="3133904"/>
            <a:ext cx="309473" cy="295096"/>
          </a:xfrm>
          <a:prstGeom prst="star7">
            <a:avLst>
              <a:gd name="adj" fmla="val 37910"/>
              <a:gd name="hf" fmla="val 102572"/>
              <a:gd name="vf" fmla="val 105210"/>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Star: 7 Points 3">
            <a:extLst>
              <a:ext uri="{FF2B5EF4-FFF2-40B4-BE49-F238E27FC236}">
                <a16:creationId xmlns:a16="http://schemas.microsoft.com/office/drawing/2014/main" id="{AFEE16CF-F956-B351-E2A8-ABACBE108EF2}"/>
              </a:ext>
            </a:extLst>
          </p:cNvPr>
          <p:cNvSpPr/>
          <p:nvPr/>
        </p:nvSpPr>
        <p:spPr>
          <a:xfrm>
            <a:off x="5591039" y="4342713"/>
            <a:ext cx="309473" cy="291501"/>
          </a:xfrm>
          <a:prstGeom prst="star7">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68EF606-75F0-1969-4D5D-5B4A189F01AA}"/>
              </a:ext>
            </a:extLst>
          </p:cNvPr>
          <p:cNvSpPr txBox="1"/>
          <p:nvPr/>
        </p:nvSpPr>
        <p:spPr>
          <a:xfrm>
            <a:off x="2450771" y="680493"/>
            <a:ext cx="5517572" cy="523220"/>
          </a:xfrm>
          <a:prstGeom prst="rect">
            <a:avLst/>
          </a:prstGeom>
          <a:noFill/>
        </p:spPr>
        <p:txBody>
          <a:bodyPr wrap="square" lIns="91440" tIns="45720" rIns="91440" bIns="45720" anchor="t">
            <a:spAutoFit/>
          </a:bodyPr>
          <a:lstStyle/>
          <a:p>
            <a:r>
              <a:rPr lang="en-US" altLang="en-US" sz="2800" b="1">
                <a:solidFill>
                  <a:srgbClr val="CC0100"/>
                </a:solidFill>
                <a:latin typeface="Times New Roman"/>
                <a:ea typeface="ＭＳ Ｐゴシック"/>
                <a:cs typeface="Times New Roman"/>
              </a:rPr>
              <a:t>Phase 2 – Calibration &amp; Rating</a:t>
            </a:r>
            <a:r>
              <a:rPr lang="en-US" altLang="en-US" sz="2800">
                <a:solidFill>
                  <a:srgbClr val="CC0100"/>
                </a:solidFill>
                <a:latin typeface="Times New Roman"/>
                <a:ea typeface="ＭＳ Ｐゴシック"/>
                <a:cs typeface="Times New Roman"/>
              </a:rPr>
              <a:t> </a:t>
            </a:r>
            <a:endParaRPr lang="en-US" sz="2800">
              <a:solidFill>
                <a:srgbClr val="CC0100"/>
              </a:solidFill>
              <a:cs typeface="Arial"/>
            </a:endParaRPr>
          </a:p>
        </p:txBody>
      </p:sp>
    </p:spTree>
    <p:extLst>
      <p:ext uri="{BB962C8B-B14F-4D97-AF65-F5344CB8AC3E}">
        <p14:creationId xmlns:p14="http://schemas.microsoft.com/office/powerpoint/2010/main" val="1542544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38A7E-2D8F-8AFC-5DAA-12D20E3A84DA}"/>
            </a:ext>
          </a:extLst>
        </p:cNvPr>
        <p:cNvGrpSpPr/>
        <p:nvPr/>
      </p:nvGrpSpPr>
      <p:grpSpPr>
        <a:xfrm>
          <a:off x="0" y="0"/>
          <a:ext cx="0" cy="0"/>
          <a:chOff x="0" y="0"/>
          <a:chExt cx="0" cy="0"/>
        </a:xfrm>
      </p:grpSpPr>
      <p:sp>
        <p:nvSpPr>
          <p:cNvPr id="16386" name="Content Placeholder 5">
            <a:extLst>
              <a:ext uri="{FF2B5EF4-FFF2-40B4-BE49-F238E27FC236}">
                <a16:creationId xmlns:a16="http://schemas.microsoft.com/office/drawing/2014/main" id="{3B2CE0C9-920C-1D00-F506-8CEF2AF919EB}"/>
              </a:ext>
            </a:extLst>
          </p:cNvPr>
          <p:cNvSpPr>
            <a:spLocks noGrp="1"/>
          </p:cNvSpPr>
          <p:nvPr>
            <p:ph sz="half" idx="1"/>
          </p:nvPr>
        </p:nvSpPr>
        <p:spPr>
          <a:xfrm>
            <a:off x="106167" y="3811173"/>
            <a:ext cx="2829275" cy="1306835"/>
          </a:xfrm>
        </p:spPr>
        <p:txBody>
          <a:bodyPr vert="horz" wrap="square" lIns="91440" tIns="45720" rIns="91440" bIns="45720" numCol="1" anchor="t" anchorCtr="0" compatLnSpc="1">
            <a:prstTxWarp prst="textNoShape">
              <a:avLst/>
            </a:prstTxWarp>
            <a:noAutofit/>
          </a:bodyPr>
          <a:lstStyle/>
          <a:p>
            <a:pPr marL="0" indent="0" eaLnBrk="1" hangingPunct="1">
              <a:buNone/>
            </a:pPr>
            <a:endParaRPr lang="en-US" altLang="en-US" sz="1200">
              <a:latin typeface="Times New Roman"/>
              <a:cs typeface="Times New Roman"/>
            </a:endParaRPr>
          </a:p>
          <a:p>
            <a:pPr marL="0" indent="0" eaLnBrk="1" hangingPunct="1">
              <a:buNone/>
            </a:pPr>
            <a:r>
              <a:rPr lang="en-US" altLang="en-US" sz="1200" b="1">
                <a:latin typeface="Times New Roman"/>
                <a:ea typeface="ＭＳ Ｐゴシック"/>
                <a:cs typeface="Times New Roman"/>
              </a:rPr>
              <a:t> </a:t>
            </a:r>
            <a:br>
              <a:rPr lang="en-US" altLang="en-US" sz="1200" b="1">
                <a:latin typeface="Times New Roman"/>
                <a:ea typeface="ＭＳ Ｐゴシック"/>
                <a:cs typeface="Times New Roman"/>
              </a:rPr>
            </a:br>
            <a:endParaRPr lang="en-US" altLang="en-US" sz="1200">
              <a:latin typeface="Times New Roman"/>
              <a:ea typeface="ＭＳ Ｐゴシック"/>
              <a:cs typeface="Times New Roman"/>
            </a:endParaRPr>
          </a:p>
        </p:txBody>
      </p:sp>
      <p:pic>
        <p:nvPicPr>
          <p:cNvPr id="3" name="Picture 2" descr="A diagram of a company&#10;&#10;AI-generated content may be incorrect.">
            <a:extLst>
              <a:ext uri="{FF2B5EF4-FFF2-40B4-BE49-F238E27FC236}">
                <a16:creationId xmlns:a16="http://schemas.microsoft.com/office/drawing/2014/main" id="{CEBB9394-E9AB-E832-B3B1-DB9F439D953A}"/>
              </a:ext>
            </a:extLst>
          </p:cNvPr>
          <p:cNvPicPr>
            <a:picLocks noChangeAspect="1"/>
          </p:cNvPicPr>
          <p:nvPr/>
        </p:nvPicPr>
        <p:blipFill>
          <a:blip r:embed="rId2"/>
          <a:srcRect t="50753" b="1179"/>
          <a:stretch>
            <a:fillRect/>
          </a:stretch>
        </p:blipFill>
        <p:spPr>
          <a:xfrm>
            <a:off x="2809026" y="773133"/>
            <a:ext cx="6101756" cy="5307597"/>
          </a:xfrm>
          <a:prstGeom prst="rect">
            <a:avLst/>
          </a:prstGeom>
          <a:ln>
            <a:noFill/>
          </a:ln>
          <a:effectLst>
            <a:outerShdw blurRad="292100" dist="139700" dir="2700000" algn="tl" rotWithShape="0">
              <a:srgbClr val="333333">
                <a:alpha val="65000"/>
              </a:srgbClr>
            </a:outerShdw>
          </a:effectLst>
        </p:spPr>
      </p:pic>
      <p:sp>
        <p:nvSpPr>
          <p:cNvPr id="2" name="Star: 7 Points 1">
            <a:extLst>
              <a:ext uri="{FF2B5EF4-FFF2-40B4-BE49-F238E27FC236}">
                <a16:creationId xmlns:a16="http://schemas.microsoft.com/office/drawing/2014/main" id="{E2072E5E-8DFE-78C6-91F9-BE34335D8B27}"/>
              </a:ext>
            </a:extLst>
          </p:cNvPr>
          <p:cNvSpPr/>
          <p:nvPr/>
        </p:nvSpPr>
        <p:spPr>
          <a:xfrm>
            <a:off x="3797599" y="999204"/>
            <a:ext cx="223481" cy="219887"/>
          </a:xfrm>
          <a:prstGeom prst="star7">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Star: 7 Points 3">
            <a:extLst>
              <a:ext uri="{FF2B5EF4-FFF2-40B4-BE49-F238E27FC236}">
                <a16:creationId xmlns:a16="http://schemas.microsoft.com/office/drawing/2014/main" id="{931EC523-17DE-5E46-71FB-21F4FD5BD3A5}"/>
              </a:ext>
            </a:extLst>
          </p:cNvPr>
          <p:cNvSpPr/>
          <p:nvPr/>
        </p:nvSpPr>
        <p:spPr>
          <a:xfrm>
            <a:off x="3858900" y="2494449"/>
            <a:ext cx="192270" cy="185082"/>
          </a:xfrm>
          <a:prstGeom prst="star7">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Star: 7 Points 4">
            <a:extLst>
              <a:ext uri="{FF2B5EF4-FFF2-40B4-BE49-F238E27FC236}">
                <a16:creationId xmlns:a16="http://schemas.microsoft.com/office/drawing/2014/main" id="{A5DE7B04-C09C-9753-DFEF-AEBCDB6FC983}"/>
              </a:ext>
            </a:extLst>
          </p:cNvPr>
          <p:cNvSpPr/>
          <p:nvPr/>
        </p:nvSpPr>
        <p:spPr>
          <a:xfrm>
            <a:off x="5252172" y="1589809"/>
            <a:ext cx="199765" cy="192577"/>
          </a:xfrm>
          <a:prstGeom prst="star7">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tar: 7 Points 5">
            <a:extLst>
              <a:ext uri="{FF2B5EF4-FFF2-40B4-BE49-F238E27FC236}">
                <a16:creationId xmlns:a16="http://schemas.microsoft.com/office/drawing/2014/main" id="{544CC12F-21E1-AC52-1A98-EDB4B6BEAB19}"/>
              </a:ext>
            </a:extLst>
          </p:cNvPr>
          <p:cNvSpPr/>
          <p:nvPr/>
        </p:nvSpPr>
        <p:spPr>
          <a:xfrm>
            <a:off x="6910781" y="881446"/>
            <a:ext cx="241680" cy="227302"/>
          </a:xfrm>
          <a:prstGeom prst="star7">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Star: 7 Points 6">
            <a:extLst>
              <a:ext uri="{FF2B5EF4-FFF2-40B4-BE49-F238E27FC236}">
                <a16:creationId xmlns:a16="http://schemas.microsoft.com/office/drawing/2014/main" id="{0BA7A9F4-284A-6A5D-5435-8BEF55FBB202}"/>
              </a:ext>
            </a:extLst>
          </p:cNvPr>
          <p:cNvSpPr/>
          <p:nvPr/>
        </p:nvSpPr>
        <p:spPr>
          <a:xfrm>
            <a:off x="6653927" y="4125787"/>
            <a:ext cx="234276" cy="201926"/>
          </a:xfrm>
          <a:prstGeom prst="star7">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B801F18-0A1D-0A8D-7D8E-7919BED02AC5}"/>
              </a:ext>
            </a:extLst>
          </p:cNvPr>
          <p:cNvSpPr txBox="1"/>
          <p:nvPr/>
        </p:nvSpPr>
        <p:spPr>
          <a:xfrm>
            <a:off x="108388" y="1975494"/>
            <a:ext cx="2729406" cy="3533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0" u="none" strike="noStrike" baseline="0">
                <a:solidFill>
                  <a:srgbClr val="C00000"/>
                </a:solidFill>
                <a:latin typeface="Times New Roman"/>
                <a:ea typeface="ＭＳ Ｐゴシック"/>
              </a:rPr>
              <a:t>Phase </a:t>
            </a:r>
            <a:r>
              <a:rPr lang="en-US" sz="2000" b="1">
                <a:solidFill>
                  <a:srgbClr val="C00000"/>
                </a:solidFill>
                <a:latin typeface="Times New Roman"/>
                <a:ea typeface="ＭＳ Ｐゴシック"/>
              </a:rPr>
              <a:t>3</a:t>
            </a:r>
            <a:endParaRPr lang="en-US" sz="2000" b="1">
              <a:solidFill>
                <a:srgbClr val="C00000"/>
              </a:solidFill>
              <a:latin typeface="Times New Roman"/>
              <a:cs typeface="Times New Roman"/>
            </a:endParaRPr>
          </a:p>
          <a:p>
            <a:r>
              <a:rPr lang="en-US" sz="2000" b="1">
                <a:solidFill>
                  <a:srgbClr val="C00000"/>
                </a:solidFill>
                <a:latin typeface="Times New Roman"/>
                <a:ea typeface="ＭＳ Ｐゴシック"/>
              </a:rPr>
              <a:t>Rating Outcomes</a:t>
            </a:r>
            <a:endParaRPr lang="en-GB" sz="2000" b="1">
              <a:solidFill>
                <a:srgbClr val="C00000"/>
              </a:solidFill>
              <a:cs typeface="Arial"/>
            </a:endParaRPr>
          </a:p>
          <a:p>
            <a:pPr>
              <a:spcBef>
                <a:spcPct val="20000"/>
              </a:spcBef>
            </a:pPr>
            <a:r>
              <a:rPr lang="en-US" sz="1200">
                <a:solidFill>
                  <a:srgbClr val="000000"/>
                </a:solidFill>
                <a:latin typeface="Times New Roman"/>
                <a:ea typeface="ＭＳ Ｐゴシック"/>
                <a:cs typeface="Times New Roman"/>
              </a:rPr>
              <a:t>(2 weeks in April) </a:t>
            </a:r>
          </a:p>
          <a:p>
            <a:pPr>
              <a:spcBef>
                <a:spcPct val="20000"/>
              </a:spcBef>
            </a:pPr>
            <a:r>
              <a:rPr lang="en-US" sz="1200">
                <a:solidFill>
                  <a:srgbClr val="000000"/>
                </a:solidFill>
                <a:latin typeface="Times New Roman"/>
                <a:ea typeface="ＭＳ Ｐゴシック"/>
                <a:cs typeface="Times New Roman"/>
              </a:rPr>
              <a:t>LE (≤5%) → Focus/PIP; </a:t>
            </a:r>
            <a:endParaRPr lang="en-US">
              <a:solidFill>
                <a:srgbClr val="000000"/>
              </a:solidFill>
              <a:cs typeface="Arial" panose="020B0604020202020204" pitchFamily="34" charset="0"/>
            </a:endParaRPr>
          </a:p>
          <a:p>
            <a:pPr>
              <a:spcBef>
                <a:spcPct val="20000"/>
              </a:spcBef>
            </a:pPr>
            <a:r>
              <a:rPr lang="en-US" sz="1200">
                <a:solidFill>
                  <a:srgbClr val="000000"/>
                </a:solidFill>
                <a:latin typeface="Times New Roman"/>
                <a:ea typeface="ＭＳ Ｐゴシック"/>
                <a:cs typeface="Times New Roman"/>
              </a:rPr>
              <a:t>HV1–3 (~75%) → Comp; </a:t>
            </a:r>
            <a:endParaRPr lang="en-US">
              <a:cs typeface="Arial"/>
            </a:endParaRPr>
          </a:p>
          <a:p>
            <a:pPr>
              <a:spcBef>
                <a:spcPct val="20000"/>
              </a:spcBef>
            </a:pPr>
            <a:r>
              <a:rPr lang="en-US" sz="1200">
                <a:solidFill>
                  <a:srgbClr val="000000"/>
                </a:solidFill>
                <a:latin typeface="Times New Roman"/>
                <a:ea typeface="ＭＳ Ｐゴシック"/>
                <a:cs typeface="Times New Roman"/>
              </a:rPr>
              <a:t>TT (≥20%) → Promotion</a:t>
            </a:r>
            <a:endParaRPr lang="en-US"/>
          </a:p>
          <a:p>
            <a:endParaRPr lang="en-US" sz="2000" b="1">
              <a:solidFill>
                <a:srgbClr val="000000"/>
              </a:solidFill>
              <a:latin typeface="Times New Roman"/>
              <a:ea typeface="ＭＳ Ｐゴシック"/>
              <a:cs typeface="Times New Roman"/>
            </a:endParaRPr>
          </a:p>
          <a:p>
            <a:r>
              <a:rPr lang="en-US" sz="2000" b="1">
                <a:solidFill>
                  <a:srgbClr val="C00000"/>
                </a:solidFill>
                <a:latin typeface="Times New Roman"/>
                <a:ea typeface="ＭＳ Ｐゴシック"/>
                <a:cs typeface="Times New Roman"/>
              </a:rPr>
              <a:t>Phase 4</a:t>
            </a:r>
            <a:endParaRPr lang="en-US" sz="2000" b="1">
              <a:solidFill>
                <a:srgbClr val="C00000"/>
              </a:solidFill>
              <a:latin typeface="Times New Roman"/>
              <a:cs typeface="Times New Roman"/>
            </a:endParaRPr>
          </a:p>
          <a:p>
            <a:r>
              <a:rPr lang="en-US" sz="2000" b="1">
                <a:solidFill>
                  <a:srgbClr val="C00000"/>
                </a:solidFill>
                <a:latin typeface="Times New Roman"/>
                <a:ea typeface="ＭＳ Ｐゴシック"/>
                <a:cs typeface="Times New Roman"/>
              </a:rPr>
              <a:t>Performance Support</a:t>
            </a:r>
            <a:endParaRPr lang="en-US" sz="2000" b="1">
              <a:solidFill>
                <a:srgbClr val="C00000"/>
              </a:solidFill>
              <a:latin typeface="Times New Roman"/>
              <a:cs typeface="Times New Roman"/>
            </a:endParaRPr>
          </a:p>
          <a:p>
            <a:r>
              <a:rPr lang="en-US" sz="1200">
                <a:latin typeface="Times New Roman"/>
                <a:ea typeface="ＭＳ Ｐゴシック"/>
                <a:cs typeface="Times New Roman"/>
              </a:rPr>
              <a:t>(3 weeks, April - May) </a:t>
            </a:r>
            <a:endParaRPr lang="en-US">
              <a:latin typeface="Times New Roman"/>
              <a:ea typeface="ＭＳ Ｐゴシック"/>
              <a:cs typeface="Times New Roman"/>
            </a:endParaRPr>
          </a:p>
          <a:p>
            <a:r>
              <a:rPr lang="en-US" sz="1200">
                <a:latin typeface="Times New Roman"/>
                <a:ea typeface="ＭＳ Ｐゴシック"/>
                <a:cs typeface="Times New Roman"/>
              </a:rPr>
              <a:t>Severance or PIP,</a:t>
            </a:r>
            <a:endParaRPr lang="en-US">
              <a:latin typeface="Times New Roman"/>
              <a:ea typeface="ＭＳ Ｐゴシック"/>
              <a:cs typeface="Times New Roman"/>
            </a:endParaRPr>
          </a:p>
          <a:p>
            <a:r>
              <a:rPr lang="en-US" sz="1200">
                <a:latin typeface="Times New Roman"/>
                <a:ea typeface="ＭＳ Ｐゴシック"/>
                <a:cs typeface="Times New Roman"/>
              </a:rPr>
              <a:t>appeal panel, </a:t>
            </a:r>
          </a:p>
          <a:p>
            <a:r>
              <a:rPr lang="en-US" sz="1200">
                <a:latin typeface="Times New Roman"/>
                <a:ea typeface="ＭＳ Ｐゴシック"/>
                <a:cs typeface="Times New Roman"/>
              </a:rPr>
              <a:t>termination path</a:t>
            </a:r>
            <a:endParaRPr lang="en-US">
              <a:ea typeface="ＭＳ Ｐゴシック"/>
              <a:cs typeface="Arial"/>
            </a:endParaRPr>
          </a:p>
          <a:p>
            <a:pPr algn="ctr"/>
            <a:endParaRPr lang="en-GB">
              <a:cs typeface="Arial" panose="020B0604020202020204" pitchFamily="34" charset="0"/>
            </a:endParaRPr>
          </a:p>
        </p:txBody>
      </p:sp>
    </p:spTree>
    <p:extLst>
      <p:ext uri="{BB962C8B-B14F-4D97-AF65-F5344CB8AC3E}">
        <p14:creationId xmlns:p14="http://schemas.microsoft.com/office/powerpoint/2010/main" val="141583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D9426359-CEED-076F-618C-26EB09002902}"/>
              </a:ext>
            </a:extLst>
          </p:cNvPr>
          <p:cNvSpPr>
            <a:spLocks noGrp="1"/>
          </p:cNvSpPr>
          <p:nvPr>
            <p:ph type="title"/>
          </p:nvPr>
        </p:nvSpPr>
        <p:spPr>
          <a:xfrm>
            <a:off x="2457450" y="274638"/>
            <a:ext cx="6229350" cy="1143000"/>
          </a:xfrm>
        </p:spPr>
        <p:txBody>
          <a:bodyPr wrap="square" anchor="ctr">
            <a:normAutofit/>
          </a:bodyPr>
          <a:lstStyle/>
          <a:p>
            <a:pPr>
              <a:lnSpc>
                <a:spcPct val="90000"/>
              </a:lnSpc>
            </a:pPr>
            <a:r>
              <a:rPr lang="en-US">
                <a:latin typeface="Times New Roman"/>
                <a:cs typeface="Times New Roman"/>
              </a:rPr>
              <a:t>Root Cause Analysis &amp; Wastes</a:t>
            </a:r>
          </a:p>
        </p:txBody>
      </p:sp>
      <p:pic>
        <p:nvPicPr>
          <p:cNvPr id="2" name="Picture 1" descr="A screenshot of a computer screen&#10;&#10;AI-generated content may be incorrect.">
            <a:extLst>
              <a:ext uri="{FF2B5EF4-FFF2-40B4-BE49-F238E27FC236}">
                <a16:creationId xmlns:a16="http://schemas.microsoft.com/office/drawing/2014/main" id="{9ADC153F-27DE-D7FD-F12D-5A36E42D2665}"/>
              </a:ext>
            </a:extLst>
          </p:cNvPr>
          <p:cNvPicPr>
            <a:picLocks noChangeAspect="1"/>
          </p:cNvPicPr>
          <p:nvPr/>
        </p:nvPicPr>
        <p:blipFill>
          <a:blip r:embed="rId2"/>
          <a:stretch>
            <a:fillRect/>
          </a:stretch>
        </p:blipFill>
        <p:spPr>
          <a:xfrm>
            <a:off x="47625" y="1578480"/>
            <a:ext cx="9043948" cy="4090311"/>
          </a:xfrm>
          <a:prstGeom prst="rect">
            <a:avLst/>
          </a:prstGeom>
          <a:noFill/>
        </p:spPr>
      </p:pic>
      <p:sp>
        <p:nvSpPr>
          <p:cNvPr id="5" name="Slide Number Placeholder 4">
            <a:extLst>
              <a:ext uri="{FF2B5EF4-FFF2-40B4-BE49-F238E27FC236}">
                <a16:creationId xmlns:a16="http://schemas.microsoft.com/office/drawing/2014/main" id="{A8F6C605-07CF-A476-3F91-9C75BAC38281}"/>
              </a:ext>
            </a:extLst>
          </p:cNvPr>
          <p:cNvSpPr>
            <a:spLocks noGrp="1"/>
          </p:cNvSpPr>
          <p:nvPr>
            <p:ph type="sldNum" sz="quarter" idx="12"/>
          </p:nvPr>
        </p:nvSpPr>
        <p:spPr>
          <a:xfrm>
            <a:off x="6553200" y="6356350"/>
            <a:ext cx="2133600" cy="365125"/>
          </a:xfrm>
        </p:spPr>
        <p:txBody>
          <a:bodyPr wrap="square" anchor="ctr">
            <a:normAutofit/>
          </a:bodyPr>
          <a:lstStyle/>
          <a:p>
            <a:pPr>
              <a:spcAft>
                <a:spcPts val="600"/>
              </a:spcAft>
              <a:defRPr/>
            </a:pPr>
            <a:fld id="{B179E7C7-4E86-4A03-B17E-362E8C17F522}" type="slidenum">
              <a:rPr lang="en-US" altLang="x-none"/>
              <a:pPr>
                <a:spcAft>
                  <a:spcPts val="600"/>
                </a:spcAft>
                <a:defRPr/>
              </a:pPr>
              <a:t>6</a:t>
            </a:fld>
            <a:endParaRPr lang="en-US" altLang="x-none"/>
          </a:p>
        </p:txBody>
      </p:sp>
    </p:spTree>
    <p:extLst>
      <p:ext uri="{BB962C8B-B14F-4D97-AF65-F5344CB8AC3E}">
        <p14:creationId xmlns:p14="http://schemas.microsoft.com/office/powerpoint/2010/main" val="3552624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681880C2-79F8-73C2-8D69-AC53549D752D}"/>
              </a:ext>
            </a:extLst>
          </p:cNvPr>
          <p:cNvSpPr>
            <a:spLocks noGrp="1"/>
          </p:cNvSpPr>
          <p:nvPr>
            <p:ph type="title"/>
          </p:nvPr>
        </p:nvSpPr>
        <p:spPr>
          <a:xfrm>
            <a:off x="2196662" y="465138"/>
            <a:ext cx="6019800" cy="876300"/>
          </a:xfrm>
        </p:spPr>
        <p:txBody>
          <a:bodyPr/>
          <a:lstStyle/>
          <a:p>
            <a:r>
              <a:rPr lang="en-US">
                <a:latin typeface="Times New Roman"/>
                <a:ea typeface="ＭＳ Ｐゴシック"/>
                <a:cs typeface="Times New Roman"/>
              </a:rPr>
              <a:t>Pareto Analysis</a:t>
            </a:r>
            <a:endParaRPr lang="en-US">
              <a:latin typeface="Times New Roman"/>
              <a:cs typeface="Times New Roman"/>
            </a:endParaRPr>
          </a:p>
        </p:txBody>
      </p:sp>
      <p:pic>
        <p:nvPicPr>
          <p:cNvPr id="5" name="Picture 4" descr="A graph with numbers and a red line&#10;&#10;AI-generated content may be incorrect.">
            <a:extLst>
              <a:ext uri="{FF2B5EF4-FFF2-40B4-BE49-F238E27FC236}">
                <a16:creationId xmlns:a16="http://schemas.microsoft.com/office/drawing/2014/main" id="{74D8A72F-92BB-C7ED-2444-56B16FD7E769}"/>
              </a:ext>
            </a:extLst>
          </p:cNvPr>
          <p:cNvPicPr>
            <a:picLocks noChangeAspect="1"/>
          </p:cNvPicPr>
          <p:nvPr/>
        </p:nvPicPr>
        <p:blipFill>
          <a:blip r:embed="rId2"/>
          <a:stretch>
            <a:fillRect/>
          </a:stretch>
        </p:blipFill>
        <p:spPr>
          <a:xfrm>
            <a:off x="3846941" y="1671185"/>
            <a:ext cx="5066323" cy="3336974"/>
          </a:xfrm>
          <a:prstGeom prst="rect">
            <a:avLst/>
          </a:prstGeom>
          <a:ln>
            <a:noFill/>
          </a:ln>
          <a:effectLst>
            <a:outerShdw blurRad="292100" dist="139700" dir="2700000" algn="tl" rotWithShape="0">
              <a:srgbClr val="333333">
                <a:alpha val="65000"/>
              </a:srgbClr>
            </a:outerShdw>
          </a:effectLst>
        </p:spPr>
      </p:pic>
      <p:sp>
        <p:nvSpPr>
          <p:cNvPr id="4" name="Slide Number Placeholder 3">
            <a:extLst>
              <a:ext uri="{FF2B5EF4-FFF2-40B4-BE49-F238E27FC236}">
                <a16:creationId xmlns:a16="http://schemas.microsoft.com/office/drawing/2014/main" id="{E7AA36E9-B3BC-49AE-AC3E-22E502D8A0D7}"/>
              </a:ext>
            </a:extLst>
          </p:cNvPr>
          <p:cNvSpPr>
            <a:spLocks noGrp="1"/>
          </p:cNvSpPr>
          <p:nvPr>
            <p:ph type="sldNum" sz="quarter" idx="12"/>
          </p:nvPr>
        </p:nvSpPr>
        <p:spPr>
          <a:xfrm>
            <a:off x="6553200" y="6356350"/>
            <a:ext cx="2133600" cy="365125"/>
          </a:xfrm>
        </p:spPr>
        <p:txBody>
          <a:bodyPr wrap="square" anchor="ctr">
            <a:normAutofit/>
          </a:bodyPr>
          <a:lstStyle/>
          <a:p>
            <a:pPr>
              <a:spcAft>
                <a:spcPts val="600"/>
              </a:spcAft>
              <a:defRPr/>
            </a:pPr>
            <a:fld id="{8FBC90D9-F1F8-4541-9BCA-BB800019663C}" type="slidenum">
              <a:rPr lang="en-US" altLang="x-none"/>
              <a:pPr>
                <a:spcAft>
                  <a:spcPts val="600"/>
                </a:spcAft>
                <a:defRPr/>
              </a:pPr>
              <a:t>7</a:t>
            </a:fld>
            <a:endParaRPr lang="en-US" altLang="x-none"/>
          </a:p>
        </p:txBody>
      </p:sp>
      <p:graphicFrame>
        <p:nvGraphicFramePr>
          <p:cNvPr id="7" name="Table 6">
            <a:extLst>
              <a:ext uri="{FF2B5EF4-FFF2-40B4-BE49-F238E27FC236}">
                <a16:creationId xmlns:a16="http://schemas.microsoft.com/office/drawing/2014/main" id="{86F02AD4-02C4-E1F6-054D-87D2371E3A4A}"/>
              </a:ext>
            </a:extLst>
          </p:cNvPr>
          <p:cNvGraphicFramePr>
            <a:graphicFrameLocks noGrp="1"/>
          </p:cNvGraphicFramePr>
          <p:nvPr>
            <p:extLst>
              <p:ext uri="{D42A27DB-BD31-4B8C-83A1-F6EECF244321}">
                <p14:modId xmlns:p14="http://schemas.microsoft.com/office/powerpoint/2010/main" val="1799467301"/>
              </p:ext>
            </p:extLst>
          </p:nvPr>
        </p:nvGraphicFramePr>
        <p:xfrm>
          <a:off x="172232" y="1855418"/>
          <a:ext cx="3593628" cy="3092684"/>
        </p:xfrm>
        <a:graphic>
          <a:graphicData uri="http://schemas.openxmlformats.org/drawingml/2006/table">
            <a:tbl>
              <a:tblPr firstRow="1" bandRow="1">
                <a:noFill/>
                <a:tableStyleId>{5940675A-B579-460E-94D1-54222C63F5DA}</a:tableStyleId>
              </a:tblPr>
              <a:tblGrid>
                <a:gridCol w="1226430">
                  <a:extLst>
                    <a:ext uri="{9D8B030D-6E8A-4147-A177-3AD203B41FA5}">
                      <a16:colId xmlns:a16="http://schemas.microsoft.com/office/drawing/2014/main" val="2954034427"/>
                    </a:ext>
                  </a:extLst>
                </a:gridCol>
                <a:gridCol w="747803">
                  <a:extLst>
                    <a:ext uri="{9D8B030D-6E8A-4147-A177-3AD203B41FA5}">
                      <a16:colId xmlns:a16="http://schemas.microsoft.com/office/drawing/2014/main" val="242550681"/>
                    </a:ext>
                  </a:extLst>
                </a:gridCol>
                <a:gridCol w="719103">
                  <a:extLst>
                    <a:ext uri="{9D8B030D-6E8A-4147-A177-3AD203B41FA5}">
                      <a16:colId xmlns:a16="http://schemas.microsoft.com/office/drawing/2014/main" val="979090087"/>
                    </a:ext>
                  </a:extLst>
                </a:gridCol>
                <a:gridCol w="900292">
                  <a:extLst>
                    <a:ext uri="{9D8B030D-6E8A-4147-A177-3AD203B41FA5}">
                      <a16:colId xmlns:a16="http://schemas.microsoft.com/office/drawing/2014/main" val="2982750750"/>
                    </a:ext>
                  </a:extLst>
                </a:gridCol>
              </a:tblGrid>
              <a:tr h="678924">
                <a:tc>
                  <a:txBody>
                    <a:bodyPr/>
                    <a:lstStyle/>
                    <a:p>
                      <a:pPr fontAlgn="base">
                        <a:lnSpc>
                          <a:spcPts val="2175"/>
                        </a:lnSpc>
                        <a:buNone/>
                      </a:pPr>
                      <a:r>
                        <a:rPr lang="en-GB" sz="1000" b="1" cap="none" spc="0">
                          <a:solidFill>
                            <a:schemeClr val="bg1"/>
                          </a:solidFill>
                          <a:effectLst/>
                        </a:rPr>
                        <a:t>Category</a:t>
                      </a:r>
                    </a:p>
                  </a:txBody>
                  <a:tcPr marL="46007" marR="32862" marT="65725" marB="65725" anchor="ctr">
                    <a:lnL w="12700" cmpd="sng">
                      <a:noFill/>
                      <a:prstDash val="solid"/>
                    </a:lnL>
                    <a:lnR w="12700" cmpd="sng">
                      <a:noFill/>
                      <a:prstDash val="solid"/>
                    </a:lnR>
                    <a:lnT w="19050" cap="flat" cmpd="sng" algn="ctr">
                      <a:noFill/>
                      <a:prstDash val="solid"/>
                    </a:lnT>
                    <a:lnB w="12700" cmpd="sng">
                      <a:noFill/>
                      <a:prstDash val="solid"/>
                    </a:lnB>
                    <a:solidFill>
                      <a:schemeClr val="tx1"/>
                    </a:solidFill>
                  </a:tcPr>
                </a:tc>
                <a:tc>
                  <a:txBody>
                    <a:bodyPr/>
                    <a:lstStyle/>
                    <a:p>
                      <a:pPr fontAlgn="base">
                        <a:lnSpc>
                          <a:spcPts val="2175"/>
                        </a:lnSpc>
                        <a:buNone/>
                      </a:pPr>
                      <a:r>
                        <a:rPr lang="en-GB" sz="1000" b="1" cap="none" spc="0">
                          <a:solidFill>
                            <a:schemeClr val="bg1"/>
                          </a:solidFill>
                          <a:effectLst/>
                        </a:rPr>
                        <a:t>Frequency</a:t>
                      </a:r>
                    </a:p>
                  </a:txBody>
                  <a:tcPr marL="46007" marR="32862" marT="65725" marB="65725" anchor="ctr">
                    <a:lnL w="12700" cmpd="sng">
                      <a:noFill/>
                      <a:prstDash val="solid"/>
                    </a:lnL>
                    <a:lnR w="12700" cmpd="sng">
                      <a:noFill/>
                      <a:prstDash val="solid"/>
                    </a:lnR>
                    <a:lnT w="19050" cap="flat" cmpd="sng" algn="ctr">
                      <a:noFill/>
                      <a:prstDash val="solid"/>
                    </a:lnT>
                    <a:lnB w="12700" cmpd="sng">
                      <a:noFill/>
                      <a:prstDash val="solid"/>
                    </a:lnB>
                    <a:solidFill>
                      <a:schemeClr val="tx1"/>
                    </a:solidFill>
                  </a:tcPr>
                </a:tc>
                <a:tc>
                  <a:txBody>
                    <a:bodyPr/>
                    <a:lstStyle/>
                    <a:p>
                      <a:pPr fontAlgn="base">
                        <a:lnSpc>
                          <a:spcPts val="2175"/>
                        </a:lnSpc>
                        <a:buNone/>
                      </a:pPr>
                      <a:r>
                        <a:rPr lang="en-GB" sz="1000" b="1" cap="none" spc="0">
                          <a:solidFill>
                            <a:schemeClr val="bg1"/>
                          </a:solidFill>
                          <a:effectLst/>
                        </a:rPr>
                        <a:t>Running Total</a:t>
                      </a:r>
                    </a:p>
                  </a:txBody>
                  <a:tcPr marL="46007" marR="32862" marT="65725" marB="65725" anchor="ctr">
                    <a:lnL w="12700" cmpd="sng">
                      <a:noFill/>
                      <a:prstDash val="solid"/>
                    </a:lnL>
                    <a:lnR w="12700" cmpd="sng">
                      <a:noFill/>
                      <a:prstDash val="solid"/>
                    </a:lnR>
                    <a:lnT w="19050" cap="flat" cmpd="sng" algn="ctr">
                      <a:noFill/>
                      <a:prstDash val="solid"/>
                    </a:lnT>
                    <a:lnB w="12700" cmpd="sng">
                      <a:noFill/>
                      <a:prstDash val="solid"/>
                    </a:lnB>
                    <a:solidFill>
                      <a:schemeClr val="tx1"/>
                    </a:solidFill>
                  </a:tcPr>
                </a:tc>
                <a:tc>
                  <a:txBody>
                    <a:bodyPr/>
                    <a:lstStyle/>
                    <a:p>
                      <a:pPr fontAlgn="base">
                        <a:lnSpc>
                          <a:spcPts val="2175"/>
                        </a:lnSpc>
                        <a:buNone/>
                      </a:pPr>
                      <a:r>
                        <a:rPr lang="en-GB" sz="1000" b="1" cap="none" spc="0">
                          <a:solidFill>
                            <a:schemeClr val="bg1"/>
                          </a:solidFill>
                          <a:effectLst/>
                        </a:rPr>
                        <a:t>Cumulative %</a:t>
                      </a:r>
                    </a:p>
                  </a:txBody>
                  <a:tcPr marL="46007" marR="32862" marT="65725" marB="65725" anchor="ctr">
                    <a:lnL w="12700" cmpd="sng">
                      <a:noFill/>
                      <a:prstDash val="solid"/>
                    </a:lnL>
                    <a:lnR w="12700" cmpd="sng">
                      <a:noFill/>
                      <a:prstDash val="solid"/>
                    </a:lnR>
                    <a:lnT w="19050" cap="flat" cmpd="sng" algn="ctr">
                      <a:noFill/>
                      <a:prstDash val="solid"/>
                    </a:lnT>
                    <a:lnB w="12700" cmpd="sng">
                      <a:noFill/>
                      <a:prstDash val="solid"/>
                    </a:lnB>
                    <a:solidFill>
                      <a:schemeClr val="tx1"/>
                    </a:solidFill>
                  </a:tcPr>
                </a:tc>
                <a:extLst>
                  <a:ext uri="{0D108BD9-81ED-4DB2-BD59-A6C34878D82A}">
                    <a16:rowId xmlns:a16="http://schemas.microsoft.com/office/drawing/2014/main" val="1173048756"/>
                  </a:ext>
                </a:extLst>
              </a:tr>
              <a:tr h="340083">
                <a:tc>
                  <a:txBody>
                    <a:bodyPr/>
                    <a:lstStyle/>
                    <a:p>
                      <a:pPr fontAlgn="base">
                        <a:lnSpc>
                          <a:spcPts val="2175"/>
                        </a:lnSpc>
                        <a:buNone/>
                      </a:pPr>
                      <a:r>
                        <a:rPr lang="en-GB" sz="900" cap="none" spc="0">
                          <a:solidFill>
                            <a:schemeClr val="tx1"/>
                          </a:solidFill>
                          <a:effectLst/>
                        </a:rPr>
                        <a:t>Standardization</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42</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42</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42/137 = 31%</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309421024"/>
                  </a:ext>
                </a:extLst>
              </a:tr>
              <a:tr h="340083">
                <a:tc>
                  <a:txBody>
                    <a:bodyPr/>
                    <a:lstStyle/>
                    <a:p>
                      <a:pPr fontAlgn="base">
                        <a:lnSpc>
                          <a:spcPts val="2175"/>
                        </a:lnSpc>
                        <a:buNone/>
                      </a:pPr>
                      <a:r>
                        <a:rPr lang="en-GB" sz="900" cap="none" spc="0">
                          <a:solidFill>
                            <a:schemeClr val="tx1"/>
                          </a:solidFill>
                          <a:effectLst/>
                        </a:rPr>
                        <a:t>Feedback gaps</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34</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76</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76/137 = 55%</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405712999"/>
                  </a:ext>
                </a:extLst>
              </a:tr>
              <a:tr h="340083">
                <a:tc>
                  <a:txBody>
                    <a:bodyPr/>
                    <a:lstStyle/>
                    <a:p>
                      <a:pPr fontAlgn="base">
                        <a:lnSpc>
                          <a:spcPts val="2175"/>
                        </a:lnSpc>
                        <a:buNone/>
                      </a:pPr>
                      <a:r>
                        <a:rPr lang="en-GB" sz="900" cap="none" spc="0">
                          <a:solidFill>
                            <a:schemeClr val="tx1"/>
                          </a:solidFill>
                          <a:effectLst/>
                        </a:rPr>
                        <a:t>Stack ranking</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18</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94</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94/137 = 69%</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664351945"/>
                  </a:ext>
                </a:extLst>
              </a:tr>
              <a:tr h="340083">
                <a:tc>
                  <a:txBody>
                    <a:bodyPr/>
                    <a:lstStyle/>
                    <a:p>
                      <a:pPr fontAlgn="base">
                        <a:lnSpc>
                          <a:spcPts val="2175"/>
                        </a:lnSpc>
                        <a:buNone/>
                      </a:pPr>
                      <a:r>
                        <a:rPr lang="en-GB" sz="900" cap="none" spc="0">
                          <a:solidFill>
                            <a:schemeClr val="tx1"/>
                          </a:solidFill>
                          <a:effectLst/>
                        </a:rPr>
                        <a:t>Manager consistency</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15</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109</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109/137 = 80%</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597347919"/>
                  </a:ext>
                </a:extLst>
              </a:tr>
              <a:tr h="340083">
                <a:tc>
                  <a:txBody>
                    <a:bodyPr/>
                    <a:lstStyle/>
                    <a:p>
                      <a:pPr fontAlgn="base">
                        <a:lnSpc>
                          <a:spcPts val="2175"/>
                        </a:lnSpc>
                        <a:buNone/>
                      </a:pPr>
                      <a:r>
                        <a:rPr lang="en-GB" sz="900" cap="none" spc="0">
                          <a:solidFill>
                            <a:schemeClr val="tx1"/>
                          </a:solidFill>
                          <a:effectLst/>
                        </a:rPr>
                        <a:t>Performance support</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12</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121</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fontAlgn="base">
                        <a:lnSpc>
                          <a:spcPts val="2175"/>
                        </a:lnSpc>
                        <a:buNone/>
                      </a:pPr>
                      <a:r>
                        <a:rPr lang="en-GB" sz="900" cap="none" spc="0">
                          <a:solidFill>
                            <a:schemeClr val="tx1"/>
                          </a:solidFill>
                          <a:effectLst/>
                        </a:rPr>
                        <a:t>121/137 = 88%</a:t>
                      </a:r>
                    </a:p>
                  </a:txBody>
                  <a:tcPr marL="46007" marR="32862" marT="13739" marB="65725"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40466600"/>
                  </a:ext>
                </a:extLst>
              </a:tr>
              <a:tr h="340083">
                <a:tc>
                  <a:txBody>
                    <a:bodyPr/>
                    <a:lstStyle/>
                    <a:p>
                      <a:pPr fontAlgn="base">
                        <a:lnSpc>
                          <a:spcPts val="2175"/>
                        </a:lnSpc>
                        <a:buNone/>
                      </a:pPr>
                      <a:r>
                        <a:rPr lang="en-GB" sz="900" cap="none" spc="0">
                          <a:solidFill>
                            <a:schemeClr val="tx1"/>
                          </a:solidFill>
                          <a:effectLst/>
                        </a:rPr>
                        <a:t>Workplace wellbeing</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9</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130</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fontAlgn="base">
                        <a:lnSpc>
                          <a:spcPts val="2175"/>
                        </a:lnSpc>
                        <a:buNone/>
                      </a:pPr>
                      <a:r>
                        <a:rPr lang="en-GB" sz="900" cap="none" spc="0">
                          <a:solidFill>
                            <a:schemeClr val="tx1"/>
                          </a:solidFill>
                          <a:effectLst/>
                        </a:rPr>
                        <a:t>130/137 = 95%</a:t>
                      </a:r>
                    </a:p>
                  </a:txBody>
                  <a:tcPr marL="46007" marR="32862" marT="13739" marB="65725"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560500221"/>
                  </a:ext>
                </a:extLst>
              </a:tr>
              <a:tr h="373262">
                <a:tc>
                  <a:txBody>
                    <a:bodyPr/>
                    <a:lstStyle/>
                    <a:p>
                      <a:pPr fontAlgn="base">
                        <a:lnSpc>
                          <a:spcPts val="2175"/>
                        </a:lnSpc>
                        <a:buNone/>
                      </a:pPr>
                      <a:r>
                        <a:rPr lang="en-GB" sz="900" cap="none" spc="0">
                          <a:solidFill>
                            <a:schemeClr val="tx1"/>
                          </a:solidFill>
                          <a:effectLst/>
                        </a:rPr>
                        <a:t>Equal treatment</a:t>
                      </a:r>
                    </a:p>
                  </a:txBody>
                  <a:tcPr marL="46007" marR="32862" marT="13739" marB="65725"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base">
                        <a:lnSpc>
                          <a:spcPts val="2175"/>
                        </a:lnSpc>
                        <a:buNone/>
                      </a:pPr>
                      <a:r>
                        <a:rPr lang="en-GB" sz="900" cap="none" spc="0">
                          <a:solidFill>
                            <a:schemeClr val="tx1"/>
                          </a:solidFill>
                          <a:effectLst/>
                        </a:rPr>
                        <a:t>7</a:t>
                      </a:r>
                    </a:p>
                  </a:txBody>
                  <a:tcPr marL="46007" marR="32862" marT="13739" marB="65725"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base">
                        <a:lnSpc>
                          <a:spcPts val="2175"/>
                        </a:lnSpc>
                        <a:buNone/>
                      </a:pPr>
                      <a:r>
                        <a:rPr lang="en-GB" sz="900" cap="none" spc="0">
                          <a:solidFill>
                            <a:schemeClr val="tx1"/>
                          </a:solidFill>
                          <a:effectLst/>
                        </a:rPr>
                        <a:t>137</a:t>
                      </a:r>
                    </a:p>
                  </a:txBody>
                  <a:tcPr marL="46007" marR="32862" marT="13739" marB="65725"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base">
                        <a:lnSpc>
                          <a:spcPts val="2175"/>
                        </a:lnSpc>
                        <a:buNone/>
                      </a:pPr>
                      <a:r>
                        <a:rPr lang="en-GB" sz="900" cap="none" spc="0">
                          <a:solidFill>
                            <a:schemeClr val="tx1"/>
                          </a:solidFill>
                          <a:effectLst/>
                        </a:rPr>
                        <a:t>137/137 = 100%</a:t>
                      </a:r>
                    </a:p>
                  </a:txBody>
                  <a:tcPr marL="46007" marR="32862" marT="13739" marB="6572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24930951"/>
                  </a:ext>
                </a:extLst>
              </a:tr>
            </a:tbl>
          </a:graphicData>
        </a:graphic>
      </p:graphicFrame>
      <p:sp>
        <p:nvSpPr>
          <p:cNvPr id="3" name="TextBox 2">
            <a:extLst>
              <a:ext uri="{FF2B5EF4-FFF2-40B4-BE49-F238E27FC236}">
                <a16:creationId xmlns:a16="http://schemas.microsoft.com/office/drawing/2014/main" id="{9C13F7BC-FAE2-047F-E6D9-89BC32117DB4}"/>
              </a:ext>
            </a:extLst>
          </p:cNvPr>
          <p:cNvSpPr txBox="1"/>
          <p:nvPr/>
        </p:nvSpPr>
        <p:spPr>
          <a:xfrm>
            <a:off x="259071" y="5412009"/>
            <a:ext cx="842730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GB" sz="1600" b="1">
                <a:solidFill>
                  <a:srgbClr val="CC0100"/>
                </a:solidFill>
                <a:latin typeface="Times New Roman"/>
                <a:ea typeface="ＭＳ Ｐゴシック"/>
                <a:cs typeface="Times New Roman"/>
              </a:rPr>
              <a:t>Result:</a:t>
            </a:r>
            <a:r>
              <a:rPr lang="en-GB" sz="1600">
                <a:latin typeface="Times New Roman"/>
                <a:ea typeface="ＭＳ Ｐゴシック"/>
                <a:cs typeface="Times New Roman"/>
              </a:rPr>
              <a:t> Standardizing evaluation criteria and closing feedback loops would address 55% of all identified issues and reduce the downstream effects that make up the remaining 45%.</a:t>
            </a:r>
            <a:endParaRPr lang="en-US" sz="1600">
              <a:latin typeface="Times New Roman"/>
              <a:ea typeface="ＭＳ Ｐゴシック"/>
              <a:cs typeface="Times New Roman"/>
            </a:endParaRPr>
          </a:p>
        </p:txBody>
      </p:sp>
      <p:sp>
        <p:nvSpPr>
          <p:cNvPr id="6" name="TextBox 5">
            <a:extLst>
              <a:ext uri="{FF2B5EF4-FFF2-40B4-BE49-F238E27FC236}">
                <a16:creationId xmlns:a16="http://schemas.microsoft.com/office/drawing/2014/main" id="{AC6A6C4C-482B-5863-D333-D1852887D72E}"/>
              </a:ext>
            </a:extLst>
          </p:cNvPr>
          <p:cNvSpPr txBox="1"/>
          <p:nvPr/>
        </p:nvSpPr>
        <p:spPr>
          <a:xfrm>
            <a:off x="172232" y="1549149"/>
            <a:ext cx="3327315" cy="307777"/>
          </a:xfrm>
          <a:prstGeom prst="rect">
            <a:avLst/>
          </a:prstGeom>
          <a:noFill/>
        </p:spPr>
        <p:txBody>
          <a:bodyPr wrap="square" lIns="91440" tIns="45720" rIns="91440" bIns="45720" anchor="t">
            <a:spAutoFit/>
          </a:bodyPr>
          <a:lstStyle/>
          <a:p>
            <a:r>
              <a:rPr lang="en-US" sz="1400" b="1" i="1">
                <a:latin typeface="Times New Roman"/>
                <a:ea typeface="ＭＳ Ｐゴシック"/>
                <a:cs typeface="Times New Roman"/>
              </a:rPr>
              <a:t>Table 1: Problem Categories</a:t>
            </a:r>
          </a:p>
        </p:txBody>
      </p:sp>
    </p:spTree>
    <p:extLst>
      <p:ext uri="{BB962C8B-B14F-4D97-AF65-F5344CB8AC3E}">
        <p14:creationId xmlns:p14="http://schemas.microsoft.com/office/powerpoint/2010/main" val="3301962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3">
            <a:extLst>
              <a:ext uri="{FF2B5EF4-FFF2-40B4-BE49-F238E27FC236}">
                <a16:creationId xmlns:a16="http://schemas.microsoft.com/office/drawing/2014/main" id="{74835B3B-BECF-481E-ACDE-41D53D94FB4F}"/>
              </a:ext>
            </a:extLst>
          </p:cNvPr>
          <p:cNvSpPr>
            <a:spLocks noGrp="1"/>
          </p:cNvSpPr>
          <p:nvPr>
            <p:ph type="title"/>
          </p:nvPr>
        </p:nvSpPr>
        <p:spPr>
          <a:xfrm>
            <a:off x="1938302" y="131922"/>
            <a:ext cx="7064375" cy="578458"/>
          </a:xfrm>
        </p:spPr>
        <p:txBody>
          <a:bodyPr/>
          <a:lstStyle/>
          <a:p>
            <a:pPr algn="l" eaLnBrk="1" hangingPunct="1"/>
            <a:r>
              <a:rPr lang="en-US" altLang="en-US" sz="3200" b="1">
                <a:latin typeface="Times New Roman"/>
                <a:ea typeface="ＭＳ Ｐゴシック"/>
                <a:cs typeface="Times New Roman"/>
              </a:rPr>
              <a:t>Implementation - Lean Improvements</a:t>
            </a:r>
            <a:endParaRPr lang="en-US" sz="3200">
              <a:latin typeface="Times New Roman"/>
              <a:cs typeface="Times New Roman"/>
            </a:endParaRPr>
          </a:p>
        </p:txBody>
      </p:sp>
      <p:sp>
        <p:nvSpPr>
          <p:cNvPr id="18435" name="Content Placeholder 6">
            <a:extLst>
              <a:ext uri="{FF2B5EF4-FFF2-40B4-BE49-F238E27FC236}">
                <a16:creationId xmlns:a16="http://schemas.microsoft.com/office/drawing/2014/main" id="{85295575-D909-4910-A10B-1364E0FA007F}"/>
              </a:ext>
            </a:extLst>
          </p:cNvPr>
          <p:cNvSpPr>
            <a:spLocks noGrp="1"/>
          </p:cNvSpPr>
          <p:nvPr>
            <p:ph sz="half" idx="2"/>
          </p:nvPr>
        </p:nvSpPr>
        <p:spPr>
          <a:xfrm>
            <a:off x="4556301" y="709924"/>
            <a:ext cx="4107524" cy="5755118"/>
          </a:xfrm>
        </p:spPr>
        <p:txBody>
          <a:bodyPr/>
          <a:lstStyle/>
          <a:p>
            <a:pPr algn="ctr" eaLnBrk="1" hangingPunct="1">
              <a:buNone/>
            </a:pPr>
            <a:endParaRPr lang="en-US" altLang="en-US" sz="1000">
              <a:latin typeface="Arial" panose="020B0604020202020204" pitchFamily="34" charset="0"/>
              <a:ea typeface="ＭＳ Ｐゴシック" panose="020B0600070205080204" pitchFamily="34" charset="-128"/>
              <a:cs typeface="Arial" panose="020B0604020202020204" pitchFamily="34" charset="0"/>
            </a:endParaRPr>
          </a:p>
          <a:p>
            <a:pPr algn="ctr" eaLnBrk="1" hangingPunct="1">
              <a:buNone/>
            </a:pPr>
            <a:endParaRPr lang="en-US" altLang="en-US" sz="1000">
              <a:latin typeface="Arial" panose="020B0604020202020204" pitchFamily="34" charset="0"/>
              <a:ea typeface="ＭＳ Ｐゴシック" panose="020B0600070205080204" pitchFamily="34" charset="-128"/>
              <a:cs typeface="Arial" panose="020B0604020202020204" pitchFamily="34" charset="0"/>
            </a:endParaRPr>
          </a:p>
          <a:p>
            <a:pPr algn="ctr" eaLnBrk="1" hangingPunct="1">
              <a:buNone/>
            </a:pPr>
            <a:endParaRPr lang="en-US" altLang="en-US" sz="1000">
              <a:latin typeface="Arial" panose="020B0604020202020204" pitchFamily="34" charset="0"/>
              <a:ea typeface="ＭＳ Ｐゴシック" panose="020B0600070205080204" pitchFamily="34" charset="-128"/>
              <a:cs typeface="Arial" panose="020B0604020202020204" pitchFamily="34" charset="0"/>
            </a:endParaRPr>
          </a:p>
          <a:p>
            <a:pPr algn="ctr" eaLnBrk="1" hangingPunct="1">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ea typeface="ＭＳ Ｐゴシック"/>
            </a:endParaRPr>
          </a:p>
          <a:p>
            <a:pPr algn="ctr">
              <a:buNone/>
            </a:pPr>
            <a:endParaRPr lang="en-US" altLang="en-US" sz="1400" b="1"/>
          </a:p>
          <a:p>
            <a:pPr algn="ctr" eaLnBrk="1" hangingPunct="1">
              <a:buNone/>
            </a:pPr>
            <a:endParaRPr lang="en-US" altLang="en-US" sz="1000">
              <a:latin typeface="Arial" panose="020B0604020202020204" pitchFamily="34" charset="0"/>
              <a:ea typeface="ＭＳ Ｐゴシック" panose="020B0600070205080204" pitchFamily="34" charset="-128"/>
              <a:cs typeface="Arial" panose="020B0604020202020204" pitchFamily="34" charset="0"/>
            </a:endParaRPr>
          </a:p>
          <a:p>
            <a:pPr algn="ctr" eaLnBrk="1" hangingPunct="1">
              <a:buNone/>
            </a:pPr>
            <a:endParaRPr lang="en-US" altLang="en-US" sz="1000" i="1">
              <a:ea typeface="ＭＳ Ｐゴシック"/>
            </a:endParaRPr>
          </a:p>
          <a:p>
            <a:pPr algn="ctr">
              <a:buNone/>
            </a:pPr>
            <a:endParaRPr lang="en-US" altLang="en-US" sz="1000" i="1">
              <a:ea typeface="ＭＳ Ｐゴシック"/>
            </a:endParaRPr>
          </a:p>
        </p:txBody>
      </p:sp>
      <p:sp>
        <p:nvSpPr>
          <p:cNvPr id="2" name="TextBox 1">
            <a:extLst>
              <a:ext uri="{FF2B5EF4-FFF2-40B4-BE49-F238E27FC236}">
                <a16:creationId xmlns:a16="http://schemas.microsoft.com/office/drawing/2014/main" id="{66CEDCA1-9723-DB48-FF57-1276C3291079}"/>
              </a:ext>
            </a:extLst>
          </p:cNvPr>
          <p:cNvSpPr txBox="1"/>
          <p:nvPr/>
        </p:nvSpPr>
        <p:spPr>
          <a:xfrm>
            <a:off x="228731" y="1714989"/>
            <a:ext cx="2917032" cy="3821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ct val="150000"/>
              </a:lnSpc>
            </a:pPr>
            <a:r>
              <a:rPr lang="en-US" b="1" i="0" u="none" strike="noStrike" baseline="0">
                <a:solidFill>
                  <a:srgbClr val="C00000"/>
                </a:solidFill>
                <a:latin typeface="Times New Roman"/>
                <a:ea typeface="Segoe UI"/>
                <a:cs typeface="Times New Roman"/>
              </a:rPr>
              <a:t>Improvement Goals</a:t>
            </a:r>
            <a:r>
              <a:rPr lang="en-US" b="1" i="0" u="none" strike="noStrike">
                <a:solidFill>
                  <a:srgbClr val="C00000"/>
                </a:solidFill>
                <a:latin typeface="Times New Roman"/>
                <a:ea typeface="Segoe UI"/>
                <a:cs typeface="Times New Roman"/>
              </a:rPr>
              <a:t>​</a:t>
            </a:r>
            <a:endParaRPr lang="en-US">
              <a:cs typeface="Arial" panose="020B0604020202020204" pitchFamily="34" charset="0"/>
            </a:endParaRPr>
          </a:p>
          <a:p>
            <a:pPr marL="171450" lvl="0" indent="-171450" rtl="0">
              <a:lnSpc>
                <a:spcPts val="1800"/>
              </a:lnSpc>
              <a:buFont typeface="Arial,Sans-Serif"/>
              <a:buChar char="•"/>
            </a:pPr>
            <a:r>
              <a:rPr lang="en-US" sz="1600" b="0" i="0" u="none" strike="noStrike" baseline="0">
                <a:solidFill>
                  <a:srgbClr val="000000"/>
                </a:solidFill>
                <a:latin typeface="Times New Roman"/>
                <a:ea typeface="Arial"/>
                <a:cs typeface="Times New Roman"/>
              </a:rPr>
              <a:t>Standardize calibration to reduce manager bias</a:t>
            </a:r>
            <a:r>
              <a:rPr lang="en-US" sz="1600" b="0" i="0" u="none" strike="noStrike">
                <a:solidFill>
                  <a:srgbClr val="000000"/>
                </a:solidFill>
                <a:latin typeface="Times New Roman"/>
                <a:ea typeface="Arial"/>
                <a:cs typeface="Times New Roman"/>
              </a:rPr>
              <a:t>​</a:t>
            </a:r>
          </a:p>
          <a:p>
            <a:pPr>
              <a:lnSpc>
                <a:spcPts val="1800"/>
              </a:lnSpc>
            </a:pPr>
            <a:endParaRPr lang="en-US" sz="1600">
              <a:solidFill>
                <a:srgbClr val="000000"/>
              </a:solidFill>
              <a:latin typeface="Times New Roman"/>
              <a:ea typeface="Arial"/>
              <a:cs typeface="Times New Roman"/>
            </a:endParaRPr>
          </a:p>
          <a:p>
            <a:pPr marL="171450" lvl="0" indent="-171450" rtl="0">
              <a:lnSpc>
                <a:spcPts val="1800"/>
              </a:lnSpc>
              <a:buFont typeface="Arial,Sans-Serif"/>
              <a:buChar char="•"/>
            </a:pPr>
            <a:r>
              <a:rPr lang="en-US" sz="1600" b="0" i="0" u="none" strike="noStrike" baseline="0">
                <a:solidFill>
                  <a:srgbClr val="000000"/>
                </a:solidFill>
                <a:latin typeface="Times New Roman"/>
                <a:ea typeface="Arial"/>
                <a:cs typeface="Times New Roman"/>
              </a:rPr>
              <a:t>Implement continuous feedback over annual cycles</a:t>
            </a:r>
            <a:r>
              <a:rPr lang="en-US" sz="1600" b="0" i="0" u="none" strike="noStrike">
                <a:solidFill>
                  <a:srgbClr val="000000"/>
                </a:solidFill>
                <a:latin typeface="Times New Roman"/>
                <a:ea typeface="Arial"/>
                <a:cs typeface="Times New Roman"/>
              </a:rPr>
              <a:t>​</a:t>
            </a:r>
          </a:p>
          <a:p>
            <a:pPr>
              <a:lnSpc>
                <a:spcPts val="1800"/>
              </a:lnSpc>
            </a:pPr>
            <a:endParaRPr lang="en-US" sz="1600">
              <a:solidFill>
                <a:srgbClr val="000000"/>
              </a:solidFill>
              <a:latin typeface="Times New Roman"/>
              <a:ea typeface="Arial"/>
              <a:cs typeface="Times New Roman"/>
            </a:endParaRPr>
          </a:p>
          <a:p>
            <a:pPr marL="171450" lvl="0" indent="-171450" rtl="0">
              <a:lnSpc>
                <a:spcPts val="1650"/>
              </a:lnSpc>
              <a:buFont typeface="Arial,Sans-Serif"/>
              <a:buChar char="•"/>
            </a:pPr>
            <a:r>
              <a:rPr lang="en-US" sz="1600" b="0" i="0" u="none" strike="noStrike" baseline="0">
                <a:solidFill>
                  <a:srgbClr val="000000"/>
                </a:solidFill>
                <a:latin typeface="Times New Roman"/>
                <a:ea typeface="Arial"/>
                <a:cs typeface="Times New Roman"/>
              </a:rPr>
              <a:t>Eliminate forced distribution – rate on absolute criteria</a:t>
            </a:r>
            <a:r>
              <a:rPr lang="en-US" sz="1600" b="0" i="0" u="none" strike="noStrike">
                <a:solidFill>
                  <a:srgbClr val="000000"/>
                </a:solidFill>
                <a:latin typeface="Times New Roman"/>
                <a:ea typeface="Arial"/>
                <a:cs typeface="Times New Roman"/>
              </a:rPr>
              <a:t>​</a:t>
            </a:r>
          </a:p>
          <a:p>
            <a:pPr>
              <a:lnSpc>
                <a:spcPts val="1650"/>
              </a:lnSpc>
            </a:pPr>
            <a:endParaRPr lang="en-US" sz="1600">
              <a:solidFill>
                <a:srgbClr val="000000"/>
              </a:solidFill>
              <a:latin typeface="Times New Roman"/>
              <a:ea typeface="Arial"/>
              <a:cs typeface="Times New Roman"/>
            </a:endParaRPr>
          </a:p>
          <a:p>
            <a:pPr marL="171450" lvl="0" indent="-171450" rtl="0">
              <a:lnSpc>
                <a:spcPts val="1650"/>
              </a:lnSpc>
              <a:buFont typeface="Arial,Sans-Serif"/>
              <a:buChar char="•"/>
            </a:pPr>
            <a:r>
              <a:rPr lang="en-US" sz="1600" b="0" i="0" u="none" strike="noStrike" baseline="0">
                <a:solidFill>
                  <a:srgbClr val="000000"/>
                </a:solidFill>
                <a:latin typeface="Times New Roman"/>
                <a:ea typeface="Arial"/>
                <a:cs typeface="Times New Roman"/>
              </a:rPr>
              <a:t>Make ratings transparent to employees</a:t>
            </a:r>
            <a:r>
              <a:rPr lang="en-US" sz="1600" b="0" i="0" u="none" strike="noStrike">
                <a:solidFill>
                  <a:srgbClr val="000000"/>
                </a:solidFill>
                <a:latin typeface="Times New Roman"/>
                <a:ea typeface="Arial"/>
                <a:cs typeface="Times New Roman"/>
              </a:rPr>
              <a:t>​</a:t>
            </a:r>
          </a:p>
          <a:p>
            <a:pPr>
              <a:lnSpc>
                <a:spcPts val="1650"/>
              </a:lnSpc>
            </a:pPr>
            <a:endParaRPr lang="en-US" sz="1600">
              <a:solidFill>
                <a:srgbClr val="000000"/>
              </a:solidFill>
              <a:latin typeface="Times New Roman"/>
              <a:ea typeface="Arial"/>
              <a:cs typeface="Times New Roman"/>
            </a:endParaRPr>
          </a:p>
          <a:p>
            <a:pPr marL="171450" lvl="0" indent="-171450" rtl="0">
              <a:lnSpc>
                <a:spcPts val="1650"/>
              </a:lnSpc>
              <a:buFont typeface="Arial,Sans-Serif"/>
              <a:buChar char="•"/>
            </a:pPr>
            <a:r>
              <a:rPr lang="en-US" sz="1600" b="0" i="0" u="none" strike="noStrike" baseline="0">
                <a:solidFill>
                  <a:srgbClr val="000000"/>
                </a:solidFill>
                <a:latin typeface="Times New Roman"/>
                <a:ea typeface="Arial"/>
                <a:cs typeface="Times New Roman"/>
              </a:rPr>
              <a:t>Eliminate URA targets &amp; “hire to fire” practice</a:t>
            </a:r>
          </a:p>
          <a:p>
            <a:pPr algn="ctr"/>
            <a:endParaRPr lang="en-US" sz="1200">
              <a:latin typeface="Times New Roman"/>
              <a:cs typeface="Times New Roman"/>
            </a:endParaRPr>
          </a:p>
        </p:txBody>
      </p:sp>
      <p:pic>
        <p:nvPicPr>
          <p:cNvPr id="3" name="Picture 2" descr="A diagram of a process&#10;&#10;AI-generated content may be incorrect.">
            <a:extLst>
              <a:ext uri="{FF2B5EF4-FFF2-40B4-BE49-F238E27FC236}">
                <a16:creationId xmlns:a16="http://schemas.microsoft.com/office/drawing/2014/main" id="{29FEB1D7-74E9-CBF0-A2B3-A86FC8791973}"/>
              </a:ext>
            </a:extLst>
          </p:cNvPr>
          <p:cNvPicPr>
            <a:picLocks noChangeAspect="1"/>
          </p:cNvPicPr>
          <p:nvPr/>
        </p:nvPicPr>
        <p:blipFill>
          <a:blip r:embed="rId3"/>
          <a:stretch>
            <a:fillRect/>
          </a:stretch>
        </p:blipFill>
        <p:spPr>
          <a:xfrm>
            <a:off x="3348913" y="841374"/>
            <a:ext cx="5553707" cy="54927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6711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4DB67-C4AB-0747-7233-6D3FA270D0D8}"/>
              </a:ext>
            </a:extLst>
          </p:cNvPr>
          <p:cNvSpPr>
            <a:spLocks noGrp="1"/>
          </p:cNvSpPr>
          <p:nvPr>
            <p:ph idx="1"/>
          </p:nvPr>
        </p:nvSpPr>
        <p:spPr>
          <a:xfrm>
            <a:off x="397669" y="5388986"/>
            <a:ext cx="6947694" cy="1328521"/>
          </a:xfrm>
        </p:spPr>
        <p:txBody>
          <a:bodyPr/>
          <a:lstStyle/>
          <a:p>
            <a:pPr marL="0" indent="0">
              <a:buNone/>
            </a:pPr>
            <a:r>
              <a:rPr lang="en-US" sz="1400" b="1">
                <a:solidFill>
                  <a:srgbClr val="C00000"/>
                </a:solidFill>
                <a:latin typeface="Times New Roman"/>
                <a:ea typeface="ＭＳ Ｐゴシック"/>
                <a:cs typeface="Times New Roman"/>
              </a:rPr>
              <a:t>Phase 1: Feedback Collection</a:t>
            </a:r>
            <a:endParaRPr lang="en-US" sz="1400">
              <a:solidFill>
                <a:srgbClr val="C00000"/>
              </a:solidFill>
              <a:latin typeface="Times New Roman"/>
              <a:cs typeface="Times New Roman"/>
            </a:endParaRPr>
          </a:p>
          <a:p>
            <a:pPr marL="171450" indent="-171450">
              <a:buFont typeface="Arial,Sans-Serif" panose="020B0604020202020204" pitchFamily="34" charset="0"/>
            </a:pPr>
            <a:r>
              <a:rPr lang="en-US" sz="1200">
                <a:latin typeface="Times New Roman"/>
                <a:ea typeface="ＭＳ Ｐゴシック"/>
                <a:cs typeface="Times New Roman"/>
              </a:rPr>
              <a:t>Standardize self-assessment with structured rubrics (not free-form against 16 LPs)</a:t>
            </a:r>
          </a:p>
          <a:p>
            <a:pPr marL="171450" indent="-171450">
              <a:buFont typeface="Arial,Sans-Serif" panose="020B0604020202020204" pitchFamily="34" charset="0"/>
            </a:pPr>
            <a:r>
              <a:rPr lang="en-US" sz="1200">
                <a:latin typeface="Times New Roman"/>
                <a:ea typeface="ＭＳ Ｐゴシック"/>
                <a:cs typeface="Times New Roman"/>
              </a:rPr>
              <a:t>Visual management tool for timely tracking of work</a:t>
            </a:r>
          </a:p>
          <a:p>
            <a:pPr marL="171450" indent="-171450">
              <a:buFont typeface="Arial,Sans-Serif" panose="020B0604020202020204" pitchFamily="34" charset="0"/>
            </a:pPr>
            <a:r>
              <a:rPr lang="en-US" sz="1200">
                <a:latin typeface="Times New Roman"/>
                <a:ea typeface="ＭＳ Ｐゴシック"/>
                <a:cs typeface="Times New Roman"/>
              </a:rPr>
              <a:t>Standardized evaluation process for managers </a:t>
            </a:r>
          </a:p>
        </p:txBody>
      </p:sp>
      <p:sp>
        <p:nvSpPr>
          <p:cNvPr id="4" name="Slide Number Placeholder 3">
            <a:extLst>
              <a:ext uri="{FF2B5EF4-FFF2-40B4-BE49-F238E27FC236}">
                <a16:creationId xmlns:a16="http://schemas.microsoft.com/office/drawing/2014/main" id="{C882F441-2C4A-7D9E-FA18-EE652BC176B9}"/>
              </a:ext>
            </a:extLst>
          </p:cNvPr>
          <p:cNvSpPr>
            <a:spLocks noGrp="1"/>
          </p:cNvSpPr>
          <p:nvPr>
            <p:ph type="sldNum" sz="quarter" idx="12"/>
          </p:nvPr>
        </p:nvSpPr>
        <p:spPr/>
        <p:txBody>
          <a:bodyPr/>
          <a:lstStyle/>
          <a:p>
            <a:pPr>
              <a:defRPr/>
            </a:pPr>
            <a:fld id="{8FBC90D9-F1F8-4541-9BCA-BB800019663C}" type="slidenum">
              <a:rPr lang="en-US" altLang="x-none"/>
              <a:pPr>
                <a:defRPr/>
              </a:pPr>
              <a:t>9</a:t>
            </a:fld>
            <a:endParaRPr lang="en-US" altLang="x-none"/>
          </a:p>
        </p:txBody>
      </p:sp>
      <p:pic>
        <p:nvPicPr>
          <p:cNvPr id="5" name="Picture 4" descr="A diagram of a process&#10;&#10;AI-generated content may be incorrect.">
            <a:extLst>
              <a:ext uri="{FF2B5EF4-FFF2-40B4-BE49-F238E27FC236}">
                <a16:creationId xmlns:a16="http://schemas.microsoft.com/office/drawing/2014/main" id="{ED8C0433-2AD8-AF5E-10F3-8BEACD0844B1}"/>
              </a:ext>
            </a:extLst>
          </p:cNvPr>
          <p:cNvPicPr>
            <a:picLocks noChangeAspect="1"/>
          </p:cNvPicPr>
          <p:nvPr/>
        </p:nvPicPr>
        <p:blipFill>
          <a:blip r:embed="rId2"/>
          <a:stretch>
            <a:fillRect/>
          </a:stretch>
        </p:blipFill>
        <p:spPr>
          <a:xfrm>
            <a:off x="2434828" y="138906"/>
            <a:ext cx="5076031" cy="49966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68381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26572-AEBE-7A21-9337-CD38F39DCD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0EC827-2EA9-63FD-4455-A47159478808}"/>
              </a:ext>
            </a:extLst>
          </p:cNvPr>
          <p:cNvSpPr>
            <a:spLocks noGrp="1"/>
          </p:cNvSpPr>
          <p:nvPr>
            <p:ph idx="1"/>
          </p:nvPr>
        </p:nvSpPr>
        <p:spPr>
          <a:xfrm>
            <a:off x="397669" y="5303045"/>
            <a:ext cx="6947694" cy="1414462"/>
          </a:xfrm>
        </p:spPr>
        <p:txBody>
          <a:bodyPr/>
          <a:lstStyle/>
          <a:p>
            <a:pPr marL="0" indent="0">
              <a:buNone/>
            </a:pPr>
            <a:endParaRPr lang="en-US" sz="1600" b="1">
              <a:latin typeface="Times New Roman"/>
              <a:ea typeface="ＭＳ Ｐゴシック"/>
              <a:cs typeface="Times New Roman"/>
            </a:endParaRPr>
          </a:p>
          <a:p>
            <a:pPr marL="171450" indent="-171450">
              <a:buFont typeface="Arial,Sans-Serif" panose="020B0604020202020204" pitchFamily="34" charset="0"/>
            </a:pPr>
            <a:endParaRPr lang="en-US" sz="1200">
              <a:latin typeface="Times New Roman"/>
              <a:ea typeface="ＭＳ Ｐゴシック"/>
              <a:cs typeface="Times New Roman"/>
            </a:endParaRPr>
          </a:p>
        </p:txBody>
      </p:sp>
      <p:sp>
        <p:nvSpPr>
          <p:cNvPr id="4" name="Slide Number Placeholder 3">
            <a:extLst>
              <a:ext uri="{FF2B5EF4-FFF2-40B4-BE49-F238E27FC236}">
                <a16:creationId xmlns:a16="http://schemas.microsoft.com/office/drawing/2014/main" id="{598F5BF1-307F-B0B0-5430-A4FC6B646B69}"/>
              </a:ext>
            </a:extLst>
          </p:cNvPr>
          <p:cNvSpPr>
            <a:spLocks noGrp="1"/>
          </p:cNvSpPr>
          <p:nvPr>
            <p:ph type="sldNum" sz="quarter" idx="12"/>
          </p:nvPr>
        </p:nvSpPr>
        <p:spPr/>
        <p:txBody>
          <a:bodyPr/>
          <a:lstStyle/>
          <a:p>
            <a:pPr>
              <a:defRPr/>
            </a:pPr>
            <a:fld id="{8FBC90D9-F1F8-4541-9BCA-BB800019663C}" type="slidenum">
              <a:rPr lang="en-US" altLang="x-none"/>
              <a:pPr>
                <a:defRPr/>
              </a:pPr>
              <a:t>10</a:t>
            </a:fld>
            <a:endParaRPr lang="en-US" altLang="x-none"/>
          </a:p>
        </p:txBody>
      </p:sp>
      <p:sp>
        <p:nvSpPr>
          <p:cNvPr id="8" name="TextBox 7">
            <a:extLst>
              <a:ext uri="{FF2B5EF4-FFF2-40B4-BE49-F238E27FC236}">
                <a16:creationId xmlns:a16="http://schemas.microsoft.com/office/drawing/2014/main" id="{2462C699-A233-155A-39E8-7DA9FA5D3A1F}"/>
              </a:ext>
            </a:extLst>
          </p:cNvPr>
          <p:cNvSpPr txBox="1"/>
          <p:nvPr/>
        </p:nvSpPr>
        <p:spPr>
          <a:xfrm>
            <a:off x="238125" y="4702969"/>
            <a:ext cx="8481218" cy="19338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875"/>
              </a:lnSpc>
            </a:pPr>
            <a:r>
              <a:rPr lang="en-US" sz="1400" b="1" baseline="0">
                <a:solidFill>
                  <a:srgbClr val="C00000"/>
                </a:solidFill>
                <a:latin typeface="Times New Roman"/>
                <a:ea typeface="Segoe UI"/>
                <a:cs typeface="Times New Roman"/>
              </a:rPr>
              <a:t>Phase 2: Calibration</a:t>
            </a:r>
            <a:r>
              <a:rPr lang="en-US" sz="1400">
                <a:solidFill>
                  <a:srgbClr val="C00000"/>
                </a:solidFill>
                <a:latin typeface="Times New Roman"/>
                <a:ea typeface="Segoe UI"/>
                <a:cs typeface="Times New Roman"/>
              </a:rPr>
              <a:t>​</a:t>
            </a:r>
          </a:p>
          <a:p>
            <a:pPr marL="171450" lvl="0" indent="-171450" rtl="0">
              <a:lnSpc>
                <a:spcPts val="1350"/>
              </a:lnSpc>
              <a:buFont typeface="Arial,Sans-Serif"/>
              <a:buChar char="•"/>
            </a:pPr>
            <a:r>
              <a:rPr lang="en-US" sz="1400" baseline="0">
                <a:solidFill>
                  <a:srgbClr val="000000"/>
                </a:solidFill>
                <a:latin typeface="Times New Roman"/>
                <a:ea typeface="Arial"/>
                <a:cs typeface="Times New Roman"/>
              </a:rPr>
              <a:t>Eliminate forced distribution – use absolute performance criteria instead of relative ranking</a:t>
            </a:r>
            <a:r>
              <a:rPr lang="en-US" sz="1400">
                <a:latin typeface="Times New Roman"/>
                <a:ea typeface="Arial"/>
                <a:cs typeface="Times New Roman"/>
              </a:rPr>
              <a:t>​</a:t>
            </a:r>
          </a:p>
          <a:p>
            <a:pPr marL="171450" lvl="0" indent="-171450" rtl="0">
              <a:lnSpc>
                <a:spcPts val="1350"/>
              </a:lnSpc>
              <a:buFont typeface="Arial,Sans-Serif"/>
              <a:buChar char="•"/>
            </a:pPr>
            <a:r>
              <a:rPr lang="en-US" sz="1400" baseline="0">
                <a:solidFill>
                  <a:srgbClr val="000000"/>
                </a:solidFill>
                <a:latin typeface="Times New Roman"/>
                <a:ea typeface="Arial"/>
                <a:cs typeface="Times New Roman"/>
              </a:rPr>
              <a:t>Automated process for calculating ratings based on standardized forms before OLR​</a:t>
            </a:r>
            <a:r>
              <a:rPr lang="en-US" sz="1400">
                <a:latin typeface="Times New Roman"/>
                <a:ea typeface="Arial"/>
                <a:cs typeface="Times New Roman"/>
              </a:rPr>
              <a:t>​</a:t>
            </a:r>
          </a:p>
          <a:p>
            <a:pPr>
              <a:lnSpc>
                <a:spcPts val="1350"/>
              </a:lnSpc>
            </a:pPr>
            <a:endParaRPr lang="en-US" sz="1400">
              <a:solidFill>
                <a:srgbClr val="000000"/>
              </a:solidFill>
              <a:latin typeface="Times New Roman"/>
              <a:ea typeface="Segoe UI"/>
              <a:cs typeface="Times New Roman"/>
            </a:endParaRPr>
          </a:p>
          <a:p>
            <a:pPr rtl="0">
              <a:lnSpc>
                <a:spcPts val="1875"/>
              </a:lnSpc>
            </a:pPr>
            <a:r>
              <a:rPr lang="en-US" sz="1400" b="1" baseline="0">
                <a:solidFill>
                  <a:srgbClr val="C00000"/>
                </a:solidFill>
                <a:latin typeface="Times New Roman"/>
                <a:ea typeface="Segoe UI"/>
                <a:cs typeface="Times New Roman"/>
              </a:rPr>
              <a:t>Phase 3: Rating Outcomes</a:t>
            </a:r>
            <a:r>
              <a:rPr lang="en-US" sz="1400">
                <a:solidFill>
                  <a:srgbClr val="C00000"/>
                </a:solidFill>
                <a:latin typeface="Times New Roman"/>
                <a:ea typeface="Segoe UI"/>
                <a:cs typeface="Times New Roman"/>
              </a:rPr>
              <a:t>​</a:t>
            </a:r>
          </a:p>
          <a:p>
            <a:pPr marL="171450" lvl="0" indent="-171450" rtl="0">
              <a:lnSpc>
                <a:spcPts val="1350"/>
              </a:lnSpc>
              <a:buFont typeface="Arial,Sans-Serif"/>
              <a:buChar char="•"/>
            </a:pPr>
            <a:r>
              <a:rPr lang="en-US" sz="1400" baseline="0">
                <a:solidFill>
                  <a:srgbClr val="000000"/>
                </a:solidFill>
                <a:latin typeface="Times New Roman"/>
                <a:ea typeface="Arial"/>
                <a:cs typeface="Times New Roman"/>
              </a:rPr>
              <a:t>Unify rating systems – show employees their actual OV rating, not a simplified proxy</a:t>
            </a:r>
            <a:r>
              <a:rPr lang="en-US" sz="1400">
                <a:latin typeface="Times New Roman"/>
                <a:ea typeface="Arial"/>
                <a:cs typeface="Times New Roman"/>
              </a:rPr>
              <a:t>​</a:t>
            </a:r>
          </a:p>
          <a:p>
            <a:pPr marL="171450" lvl="0" indent="-171450" rtl="0">
              <a:lnSpc>
                <a:spcPts val="1350"/>
              </a:lnSpc>
              <a:buFont typeface="Arial,Sans-Serif"/>
              <a:buChar char="•"/>
            </a:pPr>
            <a:r>
              <a:rPr lang="en-US" sz="1400" baseline="0">
                <a:solidFill>
                  <a:srgbClr val="000000"/>
                </a:solidFill>
                <a:latin typeface="Times New Roman"/>
                <a:ea typeface="Arial"/>
                <a:cs typeface="Times New Roman"/>
              </a:rPr>
              <a:t>Introducing credit system and badges supporting their ratings and taking measures according to their performances.</a:t>
            </a:r>
          </a:p>
          <a:p>
            <a:pPr algn="ctr"/>
            <a:endParaRPr lang="en-US"/>
          </a:p>
        </p:txBody>
      </p:sp>
      <p:pic>
        <p:nvPicPr>
          <p:cNvPr id="9" name="Picture 8" descr="A diagram of a work flow&#10;&#10;AI-generated content may be incorrect.">
            <a:extLst>
              <a:ext uri="{FF2B5EF4-FFF2-40B4-BE49-F238E27FC236}">
                <a16:creationId xmlns:a16="http://schemas.microsoft.com/office/drawing/2014/main" id="{D2881DF9-253D-1E31-2E5F-D237A1E22974}"/>
              </a:ext>
            </a:extLst>
          </p:cNvPr>
          <p:cNvPicPr>
            <a:picLocks noChangeAspect="1"/>
          </p:cNvPicPr>
          <p:nvPr/>
        </p:nvPicPr>
        <p:blipFill>
          <a:blip r:embed="rId2"/>
          <a:srcRect t="2120" r="7941"/>
          <a:stretch>
            <a:fillRect/>
          </a:stretch>
        </p:blipFill>
        <p:spPr>
          <a:xfrm>
            <a:off x="1766270" y="533724"/>
            <a:ext cx="7037211" cy="39521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86346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76F8C-41FB-C35F-7209-0F458DF020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F8F804-8570-7BD1-673B-D5B12F9EA1A4}"/>
              </a:ext>
            </a:extLst>
          </p:cNvPr>
          <p:cNvSpPr>
            <a:spLocks noGrp="1"/>
          </p:cNvSpPr>
          <p:nvPr>
            <p:ph idx="1"/>
          </p:nvPr>
        </p:nvSpPr>
        <p:spPr>
          <a:xfrm>
            <a:off x="397669" y="5942013"/>
            <a:ext cx="6947694" cy="775494"/>
          </a:xfrm>
        </p:spPr>
        <p:txBody>
          <a:bodyPr/>
          <a:lstStyle/>
          <a:p>
            <a:pPr marL="0" indent="0">
              <a:buNone/>
            </a:pPr>
            <a:endParaRPr lang="en-US" sz="1600" b="1">
              <a:latin typeface="Times New Roman"/>
              <a:ea typeface="ＭＳ Ｐゴシック"/>
              <a:cs typeface="Times New Roman"/>
            </a:endParaRPr>
          </a:p>
          <a:p>
            <a:pPr marL="171450" indent="-171450">
              <a:buFont typeface="Arial,Sans-Serif" panose="020B0604020202020204" pitchFamily="34" charset="0"/>
            </a:pPr>
            <a:endParaRPr lang="en-US" sz="1200">
              <a:latin typeface="Times New Roman"/>
              <a:ea typeface="ＭＳ Ｐゴシック"/>
              <a:cs typeface="Times New Roman"/>
            </a:endParaRPr>
          </a:p>
        </p:txBody>
      </p:sp>
      <p:sp>
        <p:nvSpPr>
          <p:cNvPr id="4" name="Slide Number Placeholder 3">
            <a:extLst>
              <a:ext uri="{FF2B5EF4-FFF2-40B4-BE49-F238E27FC236}">
                <a16:creationId xmlns:a16="http://schemas.microsoft.com/office/drawing/2014/main" id="{5F54DC14-1091-60AE-5943-2A003BAB549E}"/>
              </a:ext>
            </a:extLst>
          </p:cNvPr>
          <p:cNvSpPr>
            <a:spLocks noGrp="1"/>
          </p:cNvSpPr>
          <p:nvPr>
            <p:ph type="sldNum" sz="quarter" idx="12"/>
          </p:nvPr>
        </p:nvSpPr>
        <p:spPr/>
        <p:txBody>
          <a:bodyPr/>
          <a:lstStyle/>
          <a:p>
            <a:pPr>
              <a:defRPr/>
            </a:pPr>
            <a:fld id="{8FBC90D9-F1F8-4541-9BCA-BB800019663C}" type="slidenum">
              <a:rPr lang="en-US" altLang="x-none"/>
              <a:pPr>
                <a:defRPr/>
              </a:pPr>
              <a:t>11</a:t>
            </a:fld>
            <a:endParaRPr lang="en-US" altLang="x-none"/>
          </a:p>
        </p:txBody>
      </p:sp>
      <p:sp>
        <p:nvSpPr>
          <p:cNvPr id="8" name="TextBox 7">
            <a:extLst>
              <a:ext uri="{FF2B5EF4-FFF2-40B4-BE49-F238E27FC236}">
                <a16:creationId xmlns:a16="http://schemas.microsoft.com/office/drawing/2014/main" id="{F89C6A96-126C-8C49-8E11-72911238F349}"/>
              </a:ext>
            </a:extLst>
          </p:cNvPr>
          <p:cNvSpPr txBox="1"/>
          <p:nvPr/>
        </p:nvSpPr>
        <p:spPr>
          <a:xfrm>
            <a:off x="396875" y="5659141"/>
            <a:ext cx="7592218" cy="9720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ts val="1875"/>
              </a:lnSpc>
            </a:pPr>
            <a:r>
              <a:rPr lang="en-US" sz="1400" b="1" i="0" u="none" strike="noStrike" baseline="0">
                <a:solidFill>
                  <a:srgbClr val="C00000"/>
                </a:solidFill>
                <a:latin typeface="Times New Roman"/>
                <a:ea typeface="Segoe UI"/>
                <a:cs typeface="Times New Roman"/>
              </a:rPr>
              <a:t>Phase 4: Performance Support</a:t>
            </a:r>
            <a:r>
              <a:rPr lang="en-US" sz="1400" b="0" i="0" u="none" strike="noStrike">
                <a:solidFill>
                  <a:srgbClr val="C00000"/>
                </a:solidFill>
                <a:latin typeface="Times New Roman"/>
                <a:ea typeface="Segoe UI"/>
                <a:cs typeface="Times New Roman"/>
              </a:rPr>
              <a:t>​</a:t>
            </a:r>
          </a:p>
          <a:p>
            <a:pPr marL="171450" lvl="0" indent="-171450" algn="l" rtl="0">
              <a:lnSpc>
                <a:spcPts val="1350"/>
              </a:lnSpc>
              <a:buFont typeface="Arial,Sans-Serif"/>
              <a:buChar char="•"/>
            </a:pPr>
            <a:r>
              <a:rPr lang="en-US" sz="1400" b="0" i="0" u="none" strike="noStrike" baseline="0">
                <a:solidFill>
                  <a:srgbClr val="000000"/>
                </a:solidFill>
                <a:latin typeface="Times New Roman"/>
                <a:ea typeface="Arial"/>
                <a:cs typeface="Times New Roman"/>
              </a:rPr>
              <a:t>Replace adversarial PIP with genuine coaching &amp; development plans</a:t>
            </a:r>
            <a:r>
              <a:rPr lang="en-US" sz="1400" b="0" i="0" u="none" strike="noStrike">
                <a:solidFill>
                  <a:srgbClr val="000000"/>
                </a:solidFill>
                <a:latin typeface="Times New Roman"/>
                <a:ea typeface="Arial"/>
                <a:cs typeface="Times New Roman"/>
              </a:rPr>
              <a:t>​</a:t>
            </a:r>
          </a:p>
          <a:p>
            <a:pPr marL="171450" lvl="0" indent="-171450" algn="l" rtl="0">
              <a:lnSpc>
                <a:spcPts val="1350"/>
              </a:lnSpc>
              <a:buFont typeface="Arial,Sans-Serif"/>
              <a:buChar char="•"/>
            </a:pPr>
            <a:r>
              <a:rPr lang="en-US" sz="1400" b="0" i="0" u="none" strike="noStrike" baseline="0">
                <a:solidFill>
                  <a:srgbClr val="000000"/>
                </a:solidFill>
                <a:latin typeface="Times New Roman"/>
                <a:ea typeface="Arial"/>
                <a:cs typeface="Times New Roman"/>
              </a:rPr>
              <a:t>​Providing opportunities for improvement post rating outcomes giving more value to employee's work </a:t>
            </a:r>
          </a:p>
          <a:p>
            <a:pPr algn="ctr"/>
            <a:endParaRPr lang="en-US"/>
          </a:p>
        </p:txBody>
      </p:sp>
      <p:pic>
        <p:nvPicPr>
          <p:cNvPr id="9" name="Picture 8" descr="A diagram of a project&#10;&#10;AI-generated content may be incorrect.">
            <a:extLst>
              <a:ext uri="{FF2B5EF4-FFF2-40B4-BE49-F238E27FC236}">
                <a16:creationId xmlns:a16="http://schemas.microsoft.com/office/drawing/2014/main" id="{61D02E83-F279-A733-8841-954BC149F415}"/>
              </a:ext>
            </a:extLst>
          </p:cNvPr>
          <p:cNvPicPr>
            <a:picLocks noChangeAspect="1"/>
          </p:cNvPicPr>
          <p:nvPr/>
        </p:nvPicPr>
        <p:blipFill>
          <a:blip r:embed="rId2"/>
          <a:stretch>
            <a:fillRect/>
          </a:stretch>
        </p:blipFill>
        <p:spPr>
          <a:xfrm>
            <a:off x="1849463" y="218119"/>
            <a:ext cx="7044803" cy="51754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05589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5F328016-9A62-D376-D88C-47A088AD16B5}"/>
              </a:ext>
            </a:extLst>
          </p:cNvPr>
          <p:cNvSpPr>
            <a:spLocks noGrp="1"/>
          </p:cNvSpPr>
          <p:nvPr>
            <p:ph type="body" sz="quarter" idx="3"/>
          </p:nvPr>
        </p:nvSpPr>
        <p:spPr>
          <a:xfrm>
            <a:off x="894795" y="1415285"/>
            <a:ext cx="2288132" cy="419803"/>
          </a:xfrm>
        </p:spPr>
        <p:txBody>
          <a:bodyPr/>
          <a:lstStyle/>
          <a:p>
            <a:r>
              <a:rPr lang="en-US" sz="1100" b="1" i="1">
                <a:ea typeface="ＭＳ Ｐゴシック"/>
              </a:rPr>
              <a:t>Table 2: Metrics Table (Old)</a:t>
            </a:r>
          </a:p>
        </p:txBody>
      </p:sp>
      <p:sp>
        <p:nvSpPr>
          <p:cNvPr id="2" name="Slide Number Placeholder 1">
            <a:extLst>
              <a:ext uri="{FF2B5EF4-FFF2-40B4-BE49-F238E27FC236}">
                <a16:creationId xmlns:a16="http://schemas.microsoft.com/office/drawing/2014/main" id="{5BA29569-0336-61D0-C886-C93E8EA5E01A}"/>
              </a:ext>
            </a:extLst>
          </p:cNvPr>
          <p:cNvSpPr>
            <a:spLocks noGrp="1"/>
          </p:cNvSpPr>
          <p:nvPr>
            <p:ph type="sldNum" sz="quarter" idx="12"/>
          </p:nvPr>
        </p:nvSpPr>
        <p:spPr>
          <a:xfrm>
            <a:off x="6553200" y="6356350"/>
            <a:ext cx="2133600" cy="365125"/>
          </a:xfrm>
        </p:spPr>
        <p:txBody>
          <a:bodyPr wrap="square" anchor="ctr">
            <a:normAutofit/>
          </a:bodyPr>
          <a:lstStyle/>
          <a:p>
            <a:pPr>
              <a:spcAft>
                <a:spcPts val="600"/>
              </a:spcAft>
              <a:defRPr/>
            </a:pPr>
            <a:fld id="{71A5E7D8-EA78-44FD-8E8D-A5712C6F70CB}" type="slidenum">
              <a:rPr lang="en-US" altLang="x-none"/>
              <a:pPr>
                <a:spcAft>
                  <a:spcPts val="600"/>
                </a:spcAft>
                <a:defRPr/>
              </a:pPr>
              <a:t>12</a:t>
            </a:fld>
            <a:endParaRPr lang="en-US" altLang="x-none"/>
          </a:p>
        </p:txBody>
      </p:sp>
      <p:graphicFrame>
        <p:nvGraphicFramePr>
          <p:cNvPr id="4" name="Table 3">
            <a:extLst>
              <a:ext uri="{FF2B5EF4-FFF2-40B4-BE49-F238E27FC236}">
                <a16:creationId xmlns:a16="http://schemas.microsoft.com/office/drawing/2014/main" id="{25C659B6-B98A-D555-5765-48D12359A125}"/>
              </a:ext>
            </a:extLst>
          </p:cNvPr>
          <p:cNvGraphicFramePr>
            <a:graphicFrameLocks noGrp="1"/>
          </p:cNvGraphicFramePr>
          <p:nvPr>
            <p:extLst>
              <p:ext uri="{D42A27DB-BD31-4B8C-83A1-F6EECF244321}">
                <p14:modId xmlns:p14="http://schemas.microsoft.com/office/powerpoint/2010/main" val="1517351676"/>
              </p:ext>
            </p:extLst>
          </p:nvPr>
        </p:nvGraphicFramePr>
        <p:xfrm>
          <a:off x="959218" y="1851957"/>
          <a:ext cx="3235445" cy="2538502"/>
        </p:xfrm>
        <a:graphic>
          <a:graphicData uri="http://schemas.openxmlformats.org/drawingml/2006/table">
            <a:tbl>
              <a:tblPr firstRow="1" bandRow="1">
                <a:tableStyleId>{5940675A-B579-460E-94D1-54222C63F5DA}</a:tableStyleId>
              </a:tblPr>
              <a:tblGrid>
                <a:gridCol w="1456967">
                  <a:extLst>
                    <a:ext uri="{9D8B030D-6E8A-4147-A177-3AD203B41FA5}">
                      <a16:colId xmlns:a16="http://schemas.microsoft.com/office/drawing/2014/main" val="3542930982"/>
                    </a:ext>
                  </a:extLst>
                </a:gridCol>
                <a:gridCol w="1778478">
                  <a:extLst>
                    <a:ext uri="{9D8B030D-6E8A-4147-A177-3AD203B41FA5}">
                      <a16:colId xmlns:a16="http://schemas.microsoft.com/office/drawing/2014/main" val="2772606146"/>
                    </a:ext>
                  </a:extLst>
                </a:gridCol>
              </a:tblGrid>
              <a:tr h="397017">
                <a:tc>
                  <a:txBody>
                    <a:bodyPr/>
                    <a:lstStyle/>
                    <a:p>
                      <a:pPr marL="0" algn="ctr" rtl="0" eaLnBrk="1" latinLnBrk="0" hangingPunct="1">
                        <a:buNone/>
                      </a:pPr>
                      <a:r>
                        <a:rPr lang="en-US" sz="1200" b="1" kern="1200" cap="all" spc="60">
                          <a:solidFill>
                            <a:srgbClr val="FFFFFF"/>
                          </a:solidFill>
                          <a:effectLst/>
                        </a:rPr>
                        <a:t>Metrics</a:t>
                      </a:r>
                      <a:endParaRPr lang="en-US" sz="1200" b="1" cap="all" spc="60">
                        <a:solidFill>
                          <a:srgbClr val="FFFFFF"/>
                        </a:solidFill>
                        <a:effectLst/>
                      </a:endParaRPr>
                    </a:p>
                  </a:txBody>
                  <a:tcPr marL="120354" marR="72212" marT="72212" marB="72212" anchor="ctr">
                    <a:solidFill>
                      <a:schemeClr val="bg1">
                        <a:lumMod val="65000"/>
                      </a:schemeClr>
                    </a:solidFill>
                  </a:tcPr>
                </a:tc>
                <a:tc>
                  <a:txBody>
                    <a:bodyPr/>
                    <a:lstStyle/>
                    <a:p>
                      <a:pPr marL="0" lvl="0" algn="ctr">
                        <a:buNone/>
                      </a:pPr>
                      <a:r>
                        <a:rPr lang="en-US" sz="1200" b="1" kern="1200" cap="all" spc="60">
                          <a:solidFill>
                            <a:srgbClr val="FFFFFF"/>
                          </a:solidFill>
                          <a:effectLst/>
                        </a:rPr>
                        <a:t>Total</a:t>
                      </a:r>
                    </a:p>
                  </a:txBody>
                  <a:tcPr marL="120354" marR="72211" marT="72211" marB="72211" anchor="ctr">
                    <a:solidFill>
                      <a:schemeClr val="bg1">
                        <a:lumMod val="65000"/>
                      </a:schemeClr>
                    </a:solidFill>
                  </a:tcPr>
                </a:tc>
                <a:extLst>
                  <a:ext uri="{0D108BD9-81ED-4DB2-BD59-A6C34878D82A}">
                    <a16:rowId xmlns:a16="http://schemas.microsoft.com/office/drawing/2014/main" val="1596484327"/>
                  </a:ext>
                </a:extLst>
              </a:tr>
              <a:tr h="348893">
                <a:tc>
                  <a:txBody>
                    <a:bodyPr/>
                    <a:lstStyle/>
                    <a:p>
                      <a:pPr marL="0" algn="ctr" rtl="0" eaLnBrk="1" latinLnBrk="0" hangingPunct="1">
                        <a:buNone/>
                      </a:pPr>
                      <a:r>
                        <a:rPr lang="en-US" sz="1200" kern="1200" cap="none" spc="0">
                          <a:solidFill>
                            <a:srgbClr val="FFFFFF"/>
                          </a:solidFill>
                          <a:effectLst/>
                        </a:rPr>
                        <a:t>Cycle Time</a:t>
                      </a:r>
                      <a:endParaRPr lang="en-US" sz="1200" cap="none" spc="0">
                        <a:solidFill>
                          <a:srgbClr val="FFFFFF"/>
                        </a:solidFill>
                        <a:effectLst/>
                      </a:endParaRPr>
                    </a:p>
                  </a:txBody>
                  <a:tcPr marL="120354" marR="72212" marT="72212" marB="72212" anchor="ctr">
                    <a:solidFill>
                      <a:schemeClr val="bg1">
                        <a:lumMod val="65000"/>
                      </a:schemeClr>
                    </a:solidFill>
                  </a:tcPr>
                </a:tc>
                <a:tc>
                  <a:txBody>
                    <a:bodyPr/>
                    <a:lstStyle/>
                    <a:p>
                      <a:pPr marL="0" lvl="0" algn="ctr">
                        <a:buNone/>
                      </a:pPr>
                      <a:r>
                        <a:rPr lang="en-US" sz="1200" kern="1200" cap="none" spc="0">
                          <a:solidFill>
                            <a:srgbClr val="262626"/>
                          </a:solidFill>
                          <a:effectLst/>
                        </a:rPr>
                        <a:t>21 weeks</a:t>
                      </a:r>
                    </a:p>
                  </a:txBody>
                  <a:tcPr marL="120354" marR="72211" marT="72211" marB="72211" anchor="ctr"/>
                </a:tc>
                <a:extLst>
                  <a:ext uri="{0D108BD9-81ED-4DB2-BD59-A6C34878D82A}">
                    <a16:rowId xmlns:a16="http://schemas.microsoft.com/office/drawing/2014/main" val="3575728678"/>
                  </a:ext>
                </a:extLst>
              </a:tr>
              <a:tr h="517326">
                <a:tc>
                  <a:txBody>
                    <a:bodyPr/>
                    <a:lstStyle/>
                    <a:p>
                      <a:pPr marL="0" algn="ctr" rtl="0" eaLnBrk="1" latinLnBrk="0" hangingPunct="1">
                        <a:buNone/>
                      </a:pPr>
                      <a:r>
                        <a:rPr lang="en-US" sz="1200" kern="1200" cap="none" spc="0">
                          <a:solidFill>
                            <a:srgbClr val="FFFFFF"/>
                          </a:solidFill>
                          <a:effectLst/>
                        </a:rPr>
                        <a:t>Takt Time (weeks/employee)</a:t>
                      </a:r>
                      <a:endParaRPr lang="en-US" sz="1200" cap="none" spc="0">
                        <a:solidFill>
                          <a:srgbClr val="FFFFFF"/>
                        </a:solidFill>
                        <a:effectLst/>
                      </a:endParaRPr>
                    </a:p>
                  </a:txBody>
                  <a:tcPr marL="120354" marR="72212" marT="72212" marB="72212" anchor="ctr">
                    <a:solidFill>
                      <a:schemeClr val="bg1">
                        <a:lumMod val="65000"/>
                      </a:schemeClr>
                    </a:solidFill>
                  </a:tcPr>
                </a:tc>
                <a:tc>
                  <a:txBody>
                    <a:bodyPr/>
                    <a:lstStyle/>
                    <a:p>
                      <a:pPr lvl="0" algn="ctr">
                        <a:buNone/>
                      </a:pPr>
                      <a:r>
                        <a:rPr lang="en-GB" sz="1200" cap="none" spc="0">
                          <a:solidFill>
                            <a:srgbClr val="262626"/>
                          </a:solidFill>
                          <a:effectLst/>
                        </a:rPr>
                        <a:t>0.35</a:t>
                      </a:r>
                    </a:p>
                  </a:txBody>
                  <a:tcPr marL="120354" marR="72211" marT="72211" marB="72211" anchor="ctr"/>
                </a:tc>
                <a:extLst>
                  <a:ext uri="{0D108BD9-81ED-4DB2-BD59-A6C34878D82A}">
                    <a16:rowId xmlns:a16="http://schemas.microsoft.com/office/drawing/2014/main" val="4248514968"/>
                  </a:ext>
                </a:extLst>
              </a:tr>
              <a:tr h="541386">
                <a:tc>
                  <a:txBody>
                    <a:bodyPr/>
                    <a:lstStyle/>
                    <a:p>
                      <a:pPr marL="0" algn="ctr" rtl="0" eaLnBrk="1" latinLnBrk="0" hangingPunct="1">
                        <a:buNone/>
                      </a:pPr>
                      <a:r>
                        <a:rPr lang="en-US" sz="1200" kern="1200" cap="none" spc="0">
                          <a:solidFill>
                            <a:srgbClr val="FFFFFF"/>
                          </a:solidFill>
                          <a:effectLst/>
                        </a:rPr>
                        <a:t>Process Cycle Efficiency</a:t>
                      </a:r>
                      <a:endParaRPr lang="en-US" sz="1200" cap="none" spc="0">
                        <a:solidFill>
                          <a:srgbClr val="FFFFFF"/>
                        </a:solidFill>
                        <a:effectLst/>
                      </a:endParaRPr>
                    </a:p>
                  </a:txBody>
                  <a:tcPr marL="120354" marR="72212" marT="72212" marB="72212" anchor="ctr">
                    <a:solidFill>
                      <a:schemeClr val="bg1">
                        <a:lumMod val="65000"/>
                      </a:schemeClr>
                    </a:solidFill>
                  </a:tcPr>
                </a:tc>
                <a:tc>
                  <a:txBody>
                    <a:bodyPr/>
                    <a:lstStyle/>
                    <a:p>
                      <a:pPr lvl="0" algn="ctr">
                        <a:buNone/>
                      </a:pPr>
                      <a:r>
                        <a:rPr lang="en-GB" sz="1200" cap="none" spc="0">
                          <a:solidFill>
                            <a:srgbClr val="262626"/>
                          </a:solidFill>
                          <a:effectLst/>
                        </a:rPr>
                        <a:t>13.3%</a:t>
                      </a:r>
                    </a:p>
                  </a:txBody>
                  <a:tcPr marL="120354" marR="72211" marT="72211" marB="72211" anchor="ctr"/>
                </a:tc>
                <a:extLst>
                  <a:ext uri="{0D108BD9-81ED-4DB2-BD59-A6C34878D82A}">
                    <a16:rowId xmlns:a16="http://schemas.microsoft.com/office/drawing/2014/main" val="2304435992"/>
                  </a:ext>
                </a:extLst>
              </a:tr>
              <a:tr h="733880">
                <a:tc>
                  <a:txBody>
                    <a:bodyPr/>
                    <a:lstStyle/>
                    <a:p>
                      <a:pPr marL="0" algn="ctr" rtl="0" eaLnBrk="1" latinLnBrk="0" hangingPunct="1">
                        <a:buNone/>
                      </a:pPr>
                      <a:r>
                        <a:rPr lang="en-US" sz="1200" kern="1200" cap="none" spc="0">
                          <a:solidFill>
                            <a:srgbClr val="FFFFFF"/>
                          </a:solidFill>
                          <a:effectLst/>
                        </a:rPr>
                        <a:t>Number of process steps</a:t>
                      </a:r>
                      <a:endParaRPr lang="en-US" sz="1200" cap="none" spc="0">
                        <a:solidFill>
                          <a:srgbClr val="FFFFFF"/>
                        </a:solidFill>
                        <a:effectLst/>
                      </a:endParaRPr>
                    </a:p>
                  </a:txBody>
                  <a:tcPr marL="120354" marR="72212" marT="72212" marB="72212" anchor="ctr">
                    <a:solidFill>
                      <a:schemeClr val="bg1">
                        <a:lumMod val="65000"/>
                      </a:schemeClr>
                    </a:solidFill>
                  </a:tcPr>
                </a:tc>
                <a:tc>
                  <a:txBody>
                    <a:bodyPr/>
                    <a:lstStyle/>
                    <a:p>
                      <a:pPr lvl="0" algn="ctr">
                        <a:buNone/>
                      </a:pPr>
                      <a:r>
                        <a:rPr lang="en-GB" sz="1200" cap="none" spc="0">
                          <a:solidFill>
                            <a:srgbClr val="262626"/>
                          </a:solidFill>
                          <a:effectLst/>
                        </a:rPr>
                        <a:t>24 steps</a:t>
                      </a:r>
                    </a:p>
                  </a:txBody>
                  <a:tcPr marL="120354" marR="72211" marT="72211" marB="72211" anchor="ctr"/>
                </a:tc>
                <a:extLst>
                  <a:ext uri="{0D108BD9-81ED-4DB2-BD59-A6C34878D82A}">
                    <a16:rowId xmlns:a16="http://schemas.microsoft.com/office/drawing/2014/main" val="4100821066"/>
                  </a:ext>
                </a:extLst>
              </a:tr>
            </a:tbl>
          </a:graphicData>
        </a:graphic>
      </p:graphicFrame>
      <p:sp>
        <p:nvSpPr>
          <p:cNvPr id="6" name="Title 5">
            <a:extLst>
              <a:ext uri="{FF2B5EF4-FFF2-40B4-BE49-F238E27FC236}">
                <a16:creationId xmlns:a16="http://schemas.microsoft.com/office/drawing/2014/main" id="{B53540F7-467E-F0EE-73C6-8260C1D86723}"/>
              </a:ext>
            </a:extLst>
          </p:cNvPr>
          <p:cNvSpPr>
            <a:spLocks noGrp="1"/>
          </p:cNvSpPr>
          <p:nvPr>
            <p:ph type="title"/>
          </p:nvPr>
        </p:nvSpPr>
        <p:spPr>
          <a:xfrm>
            <a:off x="2272980" y="590542"/>
            <a:ext cx="6270228" cy="626066"/>
          </a:xfrm>
        </p:spPr>
        <p:txBody>
          <a:bodyPr/>
          <a:lstStyle/>
          <a:p>
            <a:r>
              <a:rPr lang="en-GB" sz="3300">
                <a:latin typeface="Times New Roman"/>
                <a:ea typeface="ＭＳ Ｐゴシック"/>
                <a:cs typeface="Times New Roman"/>
              </a:rPr>
              <a:t>Numerical Validation</a:t>
            </a:r>
            <a:endParaRPr lang="en-GB" sz="3300">
              <a:latin typeface="Times New Roman"/>
              <a:cs typeface="Times New Roman"/>
            </a:endParaRPr>
          </a:p>
        </p:txBody>
      </p:sp>
      <p:graphicFrame>
        <p:nvGraphicFramePr>
          <p:cNvPr id="3" name="Table 2">
            <a:extLst>
              <a:ext uri="{FF2B5EF4-FFF2-40B4-BE49-F238E27FC236}">
                <a16:creationId xmlns:a16="http://schemas.microsoft.com/office/drawing/2014/main" id="{3BE35A26-4355-1A4F-74A2-DC6463FCF72B}"/>
              </a:ext>
            </a:extLst>
          </p:cNvPr>
          <p:cNvGraphicFramePr>
            <a:graphicFrameLocks noGrp="1"/>
          </p:cNvGraphicFramePr>
          <p:nvPr>
            <p:extLst>
              <p:ext uri="{D42A27DB-BD31-4B8C-83A1-F6EECF244321}">
                <p14:modId xmlns:p14="http://schemas.microsoft.com/office/powerpoint/2010/main" val="3951129587"/>
              </p:ext>
            </p:extLst>
          </p:nvPr>
        </p:nvGraphicFramePr>
        <p:xfrm>
          <a:off x="5071089" y="1820642"/>
          <a:ext cx="3360445" cy="2565161"/>
        </p:xfrm>
        <a:graphic>
          <a:graphicData uri="http://schemas.openxmlformats.org/drawingml/2006/table">
            <a:tbl>
              <a:tblPr firstRow="1" bandRow="1">
                <a:tableStyleId>{5940675A-B579-460E-94D1-54222C63F5DA}</a:tableStyleId>
              </a:tblPr>
              <a:tblGrid>
                <a:gridCol w="1513255">
                  <a:extLst>
                    <a:ext uri="{9D8B030D-6E8A-4147-A177-3AD203B41FA5}">
                      <a16:colId xmlns:a16="http://schemas.microsoft.com/office/drawing/2014/main" val="3542930982"/>
                    </a:ext>
                  </a:extLst>
                </a:gridCol>
                <a:gridCol w="1847190">
                  <a:extLst>
                    <a:ext uri="{9D8B030D-6E8A-4147-A177-3AD203B41FA5}">
                      <a16:colId xmlns:a16="http://schemas.microsoft.com/office/drawing/2014/main" val="2772606146"/>
                    </a:ext>
                  </a:extLst>
                </a:gridCol>
              </a:tblGrid>
              <a:tr h="355567">
                <a:tc>
                  <a:txBody>
                    <a:bodyPr/>
                    <a:lstStyle/>
                    <a:p>
                      <a:pPr marL="0" algn="ctr" rtl="0" eaLnBrk="1" latinLnBrk="0" hangingPunct="1">
                        <a:buNone/>
                      </a:pPr>
                      <a:r>
                        <a:rPr lang="en-US" sz="1200" b="1" kern="1200" cap="all" spc="60">
                          <a:solidFill>
                            <a:srgbClr val="FFFFFF"/>
                          </a:solidFill>
                          <a:effectLst/>
                        </a:rPr>
                        <a:t>Metrics</a:t>
                      </a:r>
                      <a:endParaRPr lang="en-US" sz="1200" b="1" cap="all" spc="60">
                        <a:solidFill>
                          <a:srgbClr val="FFFFFF"/>
                        </a:solidFill>
                        <a:effectLst/>
                      </a:endParaRPr>
                    </a:p>
                  </a:txBody>
                  <a:tcPr marL="120354" marR="72212" marT="72212" marB="72212" anchor="ctr">
                    <a:solidFill>
                      <a:schemeClr val="accent2"/>
                    </a:solidFill>
                  </a:tcPr>
                </a:tc>
                <a:tc>
                  <a:txBody>
                    <a:bodyPr/>
                    <a:lstStyle/>
                    <a:p>
                      <a:pPr marL="0" lvl="0" algn="ctr">
                        <a:buNone/>
                      </a:pPr>
                      <a:r>
                        <a:rPr lang="en-US" sz="1200" b="1" kern="1200" cap="all" spc="60">
                          <a:solidFill>
                            <a:srgbClr val="FFFFFF"/>
                          </a:solidFill>
                          <a:effectLst/>
                        </a:rPr>
                        <a:t>Total</a:t>
                      </a:r>
                    </a:p>
                  </a:txBody>
                  <a:tcPr marL="120354" marR="72211" marT="72211" marB="72211" anchor="ctr">
                    <a:solidFill>
                      <a:schemeClr val="accent2"/>
                    </a:solidFill>
                  </a:tcPr>
                </a:tc>
                <a:extLst>
                  <a:ext uri="{0D108BD9-81ED-4DB2-BD59-A6C34878D82A}">
                    <a16:rowId xmlns:a16="http://schemas.microsoft.com/office/drawing/2014/main" val="1596484327"/>
                  </a:ext>
                </a:extLst>
              </a:tr>
              <a:tr h="355567">
                <a:tc>
                  <a:txBody>
                    <a:bodyPr/>
                    <a:lstStyle/>
                    <a:p>
                      <a:pPr marL="0" algn="ctr" rtl="0" eaLnBrk="1" latinLnBrk="0" hangingPunct="1">
                        <a:buNone/>
                      </a:pPr>
                      <a:r>
                        <a:rPr lang="en-US" sz="1200" kern="1200" cap="none" spc="0">
                          <a:solidFill>
                            <a:srgbClr val="FFFFFF"/>
                          </a:solidFill>
                          <a:effectLst/>
                        </a:rPr>
                        <a:t>Cycle Time</a:t>
                      </a:r>
                      <a:endParaRPr lang="en-US" sz="1200" cap="none" spc="0">
                        <a:solidFill>
                          <a:srgbClr val="FFFFFF"/>
                        </a:solidFill>
                        <a:effectLst/>
                      </a:endParaRPr>
                    </a:p>
                  </a:txBody>
                  <a:tcPr marL="120354" marR="72212" marT="72212" marB="72212" anchor="ctr">
                    <a:solidFill>
                      <a:schemeClr val="accent2"/>
                    </a:solidFill>
                  </a:tcPr>
                </a:tc>
                <a:tc>
                  <a:txBody>
                    <a:bodyPr/>
                    <a:lstStyle/>
                    <a:p>
                      <a:pPr marL="0" lvl="0" algn="ctr">
                        <a:buNone/>
                      </a:pPr>
                      <a:r>
                        <a:rPr lang="en-US" sz="1200" kern="1200" cap="none" spc="0">
                          <a:solidFill>
                            <a:srgbClr val="262626"/>
                          </a:solidFill>
                          <a:effectLst/>
                        </a:rPr>
                        <a:t>11 weeks </a:t>
                      </a:r>
                    </a:p>
                  </a:txBody>
                  <a:tcPr marL="120354" marR="72211" marT="72211" marB="72211" anchor="ctr"/>
                </a:tc>
                <a:extLst>
                  <a:ext uri="{0D108BD9-81ED-4DB2-BD59-A6C34878D82A}">
                    <a16:rowId xmlns:a16="http://schemas.microsoft.com/office/drawing/2014/main" val="3575728678"/>
                  </a:ext>
                </a:extLst>
              </a:tr>
              <a:tr h="533350">
                <a:tc>
                  <a:txBody>
                    <a:bodyPr/>
                    <a:lstStyle/>
                    <a:p>
                      <a:pPr marL="0" algn="ctr" rtl="0" eaLnBrk="1" latinLnBrk="0" hangingPunct="1">
                        <a:buNone/>
                      </a:pPr>
                      <a:r>
                        <a:rPr lang="en-US" sz="1200" kern="1200" cap="none" spc="0">
                          <a:solidFill>
                            <a:srgbClr val="FFFFFF"/>
                          </a:solidFill>
                          <a:effectLst/>
                        </a:rPr>
                        <a:t>Takt Time (weeks/employee)</a:t>
                      </a:r>
                      <a:endParaRPr lang="en-US" sz="1200" cap="none" spc="0">
                        <a:solidFill>
                          <a:srgbClr val="FFFFFF"/>
                        </a:solidFill>
                        <a:effectLst/>
                      </a:endParaRPr>
                    </a:p>
                  </a:txBody>
                  <a:tcPr marL="120354" marR="72212" marT="72212" marB="72212" anchor="ctr">
                    <a:solidFill>
                      <a:schemeClr val="accent2"/>
                    </a:solidFill>
                  </a:tcPr>
                </a:tc>
                <a:tc>
                  <a:txBody>
                    <a:bodyPr/>
                    <a:lstStyle/>
                    <a:p>
                      <a:pPr lvl="0" algn="ctr">
                        <a:buNone/>
                      </a:pPr>
                      <a:r>
                        <a:rPr lang="en-GB" sz="1200" cap="none" spc="0">
                          <a:solidFill>
                            <a:srgbClr val="262626"/>
                          </a:solidFill>
                          <a:effectLst/>
                        </a:rPr>
                        <a:t>0.18</a:t>
                      </a:r>
                    </a:p>
                  </a:txBody>
                  <a:tcPr marL="120354" marR="72211" marT="72211" marB="72211" anchor="ctr"/>
                </a:tc>
                <a:extLst>
                  <a:ext uri="{0D108BD9-81ED-4DB2-BD59-A6C34878D82A}">
                    <a16:rowId xmlns:a16="http://schemas.microsoft.com/office/drawing/2014/main" val="4248514968"/>
                  </a:ext>
                </a:extLst>
              </a:tr>
              <a:tr h="558748">
                <a:tc>
                  <a:txBody>
                    <a:bodyPr/>
                    <a:lstStyle/>
                    <a:p>
                      <a:pPr marL="0" algn="ctr" rtl="0" eaLnBrk="1" latinLnBrk="0" hangingPunct="1">
                        <a:buNone/>
                      </a:pPr>
                      <a:r>
                        <a:rPr lang="en-US" sz="1200" kern="1200" cap="none" spc="0">
                          <a:solidFill>
                            <a:srgbClr val="FFFFFF"/>
                          </a:solidFill>
                          <a:effectLst/>
                        </a:rPr>
                        <a:t>Process Cycle Efficiency</a:t>
                      </a:r>
                      <a:endParaRPr lang="en-US" sz="1200" cap="none" spc="0">
                        <a:solidFill>
                          <a:srgbClr val="FFFFFF"/>
                        </a:solidFill>
                        <a:effectLst/>
                      </a:endParaRPr>
                    </a:p>
                  </a:txBody>
                  <a:tcPr marL="120354" marR="72212" marT="72212" marB="72212" anchor="ctr">
                    <a:solidFill>
                      <a:schemeClr val="accent2"/>
                    </a:solidFill>
                  </a:tcPr>
                </a:tc>
                <a:tc>
                  <a:txBody>
                    <a:bodyPr/>
                    <a:lstStyle/>
                    <a:p>
                      <a:pPr lvl="0" algn="ctr">
                        <a:buNone/>
                      </a:pPr>
                      <a:r>
                        <a:rPr lang="en-GB" sz="1200" cap="none" spc="0">
                          <a:solidFill>
                            <a:srgbClr val="262626"/>
                          </a:solidFill>
                          <a:effectLst/>
                        </a:rPr>
                        <a:t>21.8%</a:t>
                      </a:r>
                    </a:p>
                  </a:txBody>
                  <a:tcPr marL="120354" marR="72211" marT="72211" marB="72211" anchor="ctr"/>
                </a:tc>
                <a:extLst>
                  <a:ext uri="{0D108BD9-81ED-4DB2-BD59-A6C34878D82A}">
                    <a16:rowId xmlns:a16="http://schemas.microsoft.com/office/drawing/2014/main" val="2304435992"/>
                  </a:ext>
                </a:extLst>
              </a:tr>
              <a:tr h="761929">
                <a:tc>
                  <a:txBody>
                    <a:bodyPr/>
                    <a:lstStyle/>
                    <a:p>
                      <a:pPr marL="0" algn="ctr" rtl="0" eaLnBrk="1" latinLnBrk="0" hangingPunct="1">
                        <a:buNone/>
                      </a:pPr>
                      <a:r>
                        <a:rPr lang="en-US" sz="1200" kern="1200" cap="none" spc="0">
                          <a:solidFill>
                            <a:srgbClr val="FFFFFF"/>
                          </a:solidFill>
                          <a:effectLst/>
                        </a:rPr>
                        <a:t>Number of process steps</a:t>
                      </a:r>
                      <a:endParaRPr lang="en-US" sz="1200" cap="none" spc="0">
                        <a:solidFill>
                          <a:srgbClr val="FFFFFF"/>
                        </a:solidFill>
                        <a:effectLst/>
                      </a:endParaRPr>
                    </a:p>
                  </a:txBody>
                  <a:tcPr marL="120354" marR="72212" marT="72212" marB="72212" anchor="ctr">
                    <a:solidFill>
                      <a:schemeClr val="accent2"/>
                    </a:solidFill>
                  </a:tcPr>
                </a:tc>
                <a:tc>
                  <a:txBody>
                    <a:bodyPr/>
                    <a:lstStyle/>
                    <a:p>
                      <a:pPr lvl="0" algn="ctr">
                        <a:buNone/>
                      </a:pPr>
                      <a:r>
                        <a:rPr lang="en-GB" sz="1200" cap="none" spc="0">
                          <a:solidFill>
                            <a:srgbClr val="262626"/>
                          </a:solidFill>
                          <a:effectLst/>
                        </a:rPr>
                        <a:t>21 </a:t>
                      </a:r>
                      <a:r>
                        <a:rPr lang="en-GB" sz="1200" cap="none" spc="0" err="1">
                          <a:solidFill>
                            <a:srgbClr val="262626"/>
                          </a:solidFill>
                          <a:effectLst/>
                        </a:rPr>
                        <a:t>ste</a:t>
                      </a:r>
                      <a:r>
                        <a:rPr lang="en-GB" sz="1200" cap="none" spc="0">
                          <a:solidFill>
                            <a:srgbClr val="262626"/>
                          </a:solidFill>
                          <a:effectLst/>
                        </a:rPr>
                        <a:t>ps</a:t>
                      </a:r>
                    </a:p>
                  </a:txBody>
                  <a:tcPr marL="120354" marR="72211" marT="72211" marB="72211" anchor="ctr"/>
                </a:tc>
                <a:extLst>
                  <a:ext uri="{0D108BD9-81ED-4DB2-BD59-A6C34878D82A}">
                    <a16:rowId xmlns:a16="http://schemas.microsoft.com/office/drawing/2014/main" val="4100821066"/>
                  </a:ext>
                </a:extLst>
              </a:tr>
            </a:tbl>
          </a:graphicData>
        </a:graphic>
      </p:graphicFrame>
      <p:sp>
        <p:nvSpPr>
          <p:cNvPr id="5" name="TextBox 4">
            <a:extLst>
              <a:ext uri="{FF2B5EF4-FFF2-40B4-BE49-F238E27FC236}">
                <a16:creationId xmlns:a16="http://schemas.microsoft.com/office/drawing/2014/main" id="{944A3E8A-B476-7BDC-B35A-23401CDC0595}"/>
              </a:ext>
            </a:extLst>
          </p:cNvPr>
          <p:cNvSpPr txBox="1"/>
          <p:nvPr/>
        </p:nvSpPr>
        <p:spPr>
          <a:xfrm>
            <a:off x="5069001" y="1563956"/>
            <a:ext cx="2395603"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i="1" baseline="0">
                <a:latin typeface="Arial"/>
                <a:ea typeface="ＭＳ Ｐゴシック"/>
              </a:rPr>
              <a:t>Table </a:t>
            </a:r>
            <a:r>
              <a:rPr lang="en-US" sz="1100" b="1" i="1">
                <a:latin typeface="Arial"/>
                <a:ea typeface="ＭＳ Ｐゴシック"/>
              </a:rPr>
              <a:t>3</a:t>
            </a:r>
            <a:r>
              <a:rPr lang="en-US" sz="1100" b="1" i="1" baseline="0">
                <a:latin typeface="Arial"/>
                <a:ea typeface="ＭＳ Ｐゴシック"/>
              </a:rPr>
              <a:t>: Metrics Table </a:t>
            </a:r>
            <a:r>
              <a:rPr lang="en-US" sz="1100" b="1" i="1">
                <a:latin typeface="Arial"/>
                <a:ea typeface="ＭＳ Ｐゴシック"/>
              </a:rPr>
              <a:t>(New)</a:t>
            </a:r>
            <a:r>
              <a:rPr sz="1100" dirty="0">
                <a:latin typeface="Arial"/>
                <a:ea typeface="Arial"/>
                <a:cs typeface="Arial"/>
              </a:rPr>
              <a:t>​</a:t>
            </a:r>
            <a:endParaRPr lang="en-GB" dirty="0"/>
          </a:p>
          <a:p>
            <a:pPr algn="ctr"/>
            <a:endParaRPr lang="en-GB" b="1">
              <a:cs typeface="Arial"/>
            </a:endParaRPr>
          </a:p>
        </p:txBody>
      </p:sp>
      <p:sp>
        <p:nvSpPr>
          <p:cNvPr id="9" name="TextBox 6">
            <a:extLst>
              <a:ext uri="{FF2B5EF4-FFF2-40B4-BE49-F238E27FC236}">
                <a16:creationId xmlns:a16="http://schemas.microsoft.com/office/drawing/2014/main" id="{BC0367BF-AD6F-D380-B12A-837198AFF152}"/>
              </a:ext>
            </a:extLst>
          </p:cNvPr>
          <p:cNvSpPr txBox="1"/>
          <p:nvPr/>
        </p:nvSpPr>
        <p:spPr>
          <a:xfrm>
            <a:off x="601306" y="4477759"/>
            <a:ext cx="8183029" cy="160043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pPr algn="l"/>
            <a:r>
              <a:rPr lang="en-US" sz="1400" b="1">
                <a:solidFill>
                  <a:srgbClr val="C00000"/>
                </a:solidFill>
                <a:latin typeface="Times New Roman"/>
                <a:ea typeface="ＭＳ Ｐゴシック"/>
                <a:cs typeface="Times New Roman"/>
              </a:rPr>
              <a:t>Assumptions:</a:t>
            </a:r>
            <a:endParaRPr lang="en-US">
              <a:solidFill>
                <a:srgbClr val="C00000"/>
              </a:solidFill>
              <a:latin typeface="Times New Roman"/>
              <a:cs typeface="Times New Roman"/>
            </a:endParaRPr>
          </a:p>
          <a:p>
            <a:pPr marL="285750" indent="-285750" algn="just">
              <a:buFont typeface="Arial"/>
              <a:buChar char="•"/>
            </a:pPr>
            <a:r>
              <a:rPr lang="en-US" sz="1400">
                <a:latin typeface="Times New Roman"/>
                <a:ea typeface="ＭＳ Ｐゴシック"/>
                <a:cs typeface="Times New Roman"/>
              </a:rPr>
              <a:t>Amazon’s internal HR data is not publicly available, </a:t>
            </a:r>
            <a:r>
              <a:rPr lang="en-US" sz="1400" b="1">
                <a:latin typeface="Times New Roman"/>
                <a:ea typeface="ＭＳ Ｐゴシック"/>
                <a:cs typeface="Times New Roman"/>
              </a:rPr>
              <a:t>so takt time is estimated using our 60 testimonials. This is just to </a:t>
            </a:r>
            <a:r>
              <a:rPr lang="en-US" sz="1400" b="1" err="1">
                <a:latin typeface="Times New Roman"/>
                <a:ea typeface="ＭＳ Ｐゴシック"/>
                <a:cs typeface="Times New Roman"/>
              </a:rPr>
              <a:t>sh</a:t>
            </a:r>
            <a:r>
              <a:rPr lang="en-US" sz="1400" b="1">
                <a:latin typeface="Times New Roman"/>
                <a:ea typeface="ＭＳ Ｐゴシック"/>
                <a:cs typeface="Times New Roman"/>
              </a:rPr>
              <a:t>ow process improvement from current to future.</a:t>
            </a:r>
            <a:endParaRPr lang="en-US" b="1">
              <a:latin typeface="Times New Roman"/>
              <a:cs typeface="Times New Roman"/>
            </a:endParaRPr>
          </a:p>
          <a:p>
            <a:pPr marL="285750" indent="-285750" algn="just">
              <a:buFont typeface="Arial"/>
              <a:buChar char="•"/>
            </a:pPr>
            <a:r>
              <a:rPr lang="en-US" sz="1400">
                <a:latin typeface="Times New Roman"/>
                <a:ea typeface="ＭＳ Ｐゴシック"/>
                <a:cs typeface="Times New Roman"/>
              </a:rPr>
              <a:t>Cycle time and process steps are based on our current- and future-state VSMs.</a:t>
            </a:r>
            <a:endParaRPr lang="en-US">
              <a:latin typeface="Times New Roman"/>
              <a:cs typeface="Times New Roman"/>
            </a:endParaRPr>
          </a:p>
          <a:p>
            <a:pPr marL="285750" indent="-285750" algn="just">
              <a:buFont typeface="Arial"/>
              <a:buChar char="•"/>
            </a:pPr>
            <a:r>
              <a:rPr lang="en-US" sz="1400">
                <a:latin typeface="Times New Roman"/>
                <a:ea typeface="ＭＳ Ｐゴシック"/>
                <a:cs typeface="Times New Roman"/>
              </a:rPr>
              <a:t>PCE is estimated, since exact internal processing times are unavailable.</a:t>
            </a:r>
            <a:endParaRPr lang="en-US" sz="1400">
              <a:latin typeface="Times New Roman"/>
              <a:cs typeface="Times New Roman"/>
            </a:endParaRPr>
          </a:p>
          <a:p>
            <a:pPr marL="285750" indent="-285750" algn="just">
              <a:buFont typeface="Arial"/>
              <a:buChar char="•"/>
            </a:pPr>
            <a:r>
              <a:rPr lang="en-US" sz="1400">
                <a:latin typeface="Times New Roman"/>
                <a:ea typeface="ＭＳ Ｐゴシック"/>
                <a:cs typeface="Times New Roman"/>
              </a:rPr>
              <a:t>While some numerical changes are modest, the redesigned future-state process emphasizes greater transparency, earlier support, and improved employee experience.</a:t>
            </a:r>
          </a:p>
        </p:txBody>
      </p:sp>
    </p:spTree>
    <p:extLst>
      <p:ext uri="{BB962C8B-B14F-4D97-AF65-F5344CB8AC3E}">
        <p14:creationId xmlns:p14="http://schemas.microsoft.com/office/powerpoint/2010/main" val="3327737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3">
            <a:extLst>
              <a:ext uri="{FF2B5EF4-FFF2-40B4-BE49-F238E27FC236}">
                <a16:creationId xmlns:a16="http://schemas.microsoft.com/office/drawing/2014/main" id="{3156A1F3-E9E1-4C1E-A507-80AD066C63C3}"/>
              </a:ext>
            </a:extLst>
          </p:cNvPr>
          <p:cNvSpPr>
            <a:spLocks noGrp="1"/>
          </p:cNvSpPr>
          <p:nvPr>
            <p:ph type="title"/>
          </p:nvPr>
        </p:nvSpPr>
        <p:spPr>
          <a:xfrm>
            <a:off x="1795287" y="427038"/>
            <a:ext cx="7110587" cy="800099"/>
          </a:xfrm>
        </p:spPr>
        <p:txBody>
          <a:bodyPr/>
          <a:lstStyle/>
          <a:p>
            <a:pPr eaLnBrk="1" hangingPunct="1"/>
            <a:r>
              <a:rPr lang="en-US">
                <a:latin typeface="Times New Roman"/>
                <a:ea typeface="ＭＳ Ｐゴシック"/>
                <a:cs typeface="Times New Roman"/>
              </a:rPr>
              <a:t>What's Next: Follow Up &amp; Results</a:t>
            </a:r>
          </a:p>
        </p:txBody>
      </p:sp>
      <p:sp>
        <p:nvSpPr>
          <p:cNvPr id="19458" name="Content Placeholder 5">
            <a:extLst>
              <a:ext uri="{FF2B5EF4-FFF2-40B4-BE49-F238E27FC236}">
                <a16:creationId xmlns:a16="http://schemas.microsoft.com/office/drawing/2014/main" id="{70261372-AF77-45F5-B08C-4256CF150F9B}"/>
              </a:ext>
            </a:extLst>
          </p:cNvPr>
          <p:cNvSpPr>
            <a:spLocks noGrp="1"/>
          </p:cNvSpPr>
          <p:nvPr>
            <p:ph sz="half" idx="1"/>
          </p:nvPr>
        </p:nvSpPr>
        <p:spPr>
          <a:xfrm>
            <a:off x="79300" y="1451986"/>
            <a:ext cx="3827224" cy="4891620"/>
          </a:xfrm>
          <a:ln>
            <a:solidFill>
              <a:schemeClr val="bg2"/>
            </a:solidFill>
          </a:ln>
        </p:spPr>
        <p:txBody>
          <a:bodyPr vert="horz" wrap="square" lIns="91440" tIns="45720" rIns="91440" bIns="45720" numCol="1" anchor="t" anchorCtr="0" compatLnSpc="1">
            <a:prstTxWarp prst="textNoShape">
              <a:avLst/>
            </a:prstTxWarp>
            <a:noAutofit/>
          </a:bodyPr>
          <a:lstStyle/>
          <a:p>
            <a:pPr eaLnBrk="1" hangingPunct="1">
              <a:buNone/>
            </a:pPr>
            <a:r>
              <a:rPr lang="en-US" altLang="en-US" sz="1600" b="1">
                <a:solidFill>
                  <a:srgbClr val="C00000"/>
                </a:solidFill>
                <a:latin typeface="Times New Roman"/>
                <a:ea typeface="ＭＳ Ｐゴシック"/>
                <a:cs typeface="Times New Roman"/>
              </a:rPr>
              <a:t>Expected Results of Lean Improvements</a:t>
            </a:r>
          </a:p>
          <a:p>
            <a:pPr marL="171450" indent="-171450" eaLnBrk="1" hangingPunct="1">
              <a:buFont typeface="Arial"/>
              <a:buChar char="•"/>
            </a:pPr>
            <a:r>
              <a:rPr lang="en-US" altLang="en-US" sz="1500">
                <a:latin typeface="Times New Roman"/>
                <a:ea typeface="ＭＳ Ｐゴシック"/>
                <a:cs typeface="Times New Roman"/>
              </a:rPr>
              <a:t>Cycle time reduction</a:t>
            </a:r>
          </a:p>
          <a:p>
            <a:pPr marL="171450" indent="-171450" eaLnBrk="1" hangingPunct="1">
              <a:buFont typeface="Arial"/>
              <a:buChar char="•"/>
            </a:pPr>
            <a:r>
              <a:rPr lang="en-US" altLang="en-US" sz="1500">
                <a:latin typeface="Times New Roman"/>
                <a:ea typeface="ＭＳ Ｐゴシック"/>
                <a:cs typeface="Times New Roman"/>
              </a:rPr>
              <a:t>Defect reduction: Ratings based on absolute criteria</a:t>
            </a:r>
          </a:p>
          <a:p>
            <a:pPr marL="171450" indent="-171450" eaLnBrk="1" hangingPunct="1">
              <a:buFont typeface="Arial"/>
              <a:buChar char="•"/>
            </a:pPr>
            <a:r>
              <a:rPr lang="en-US" altLang="en-US" sz="1500">
                <a:latin typeface="Times New Roman"/>
                <a:ea typeface="ＭＳ Ｐゴシック"/>
                <a:cs typeface="Times New Roman"/>
              </a:rPr>
              <a:t>Transparency: Unified rating visible to employee</a:t>
            </a:r>
          </a:p>
          <a:p>
            <a:pPr marL="171450" indent="-171450">
              <a:buFont typeface="Arial"/>
              <a:buChar char="•"/>
            </a:pPr>
            <a:r>
              <a:rPr lang="en-US" altLang="en-US" sz="1500">
                <a:latin typeface="Times New Roman"/>
                <a:ea typeface="ＭＳ Ｐゴシック"/>
                <a:cs typeface="Times New Roman"/>
              </a:rPr>
              <a:t>More supportive system and improved flow</a:t>
            </a:r>
          </a:p>
          <a:p>
            <a:pPr marL="0" indent="0">
              <a:buNone/>
            </a:pPr>
            <a:endParaRPr lang="en-US" altLang="en-US" sz="1500">
              <a:latin typeface="Times New Roman"/>
              <a:ea typeface="ＭＳ Ｐゴシック"/>
              <a:cs typeface="Times New Roman"/>
            </a:endParaRPr>
          </a:p>
          <a:p>
            <a:pPr eaLnBrk="1" hangingPunct="1">
              <a:spcBef>
                <a:spcPts val="500"/>
              </a:spcBef>
              <a:buNone/>
            </a:pPr>
            <a:r>
              <a:rPr lang="en-US" altLang="en-US" sz="1600" b="1">
                <a:solidFill>
                  <a:srgbClr val="C00000"/>
                </a:solidFill>
                <a:latin typeface="Times New Roman"/>
                <a:ea typeface="ＭＳ Ｐゴシック"/>
                <a:cs typeface="Times New Roman"/>
              </a:rPr>
              <a:t>Next Steps</a:t>
            </a:r>
          </a:p>
          <a:p>
            <a:pPr marL="171450" indent="-171450" eaLnBrk="1" hangingPunct="1">
              <a:buFont typeface="Arial"/>
              <a:buChar char="•"/>
            </a:pPr>
            <a:r>
              <a:rPr lang="en-US" altLang="en-US" sz="1500">
                <a:latin typeface="Times New Roman"/>
                <a:ea typeface="ＭＳ Ｐゴシック"/>
                <a:cs typeface="Times New Roman"/>
              </a:rPr>
              <a:t>Pilot continuous feedback in 2–3 teams before org-wide rollout</a:t>
            </a:r>
          </a:p>
          <a:p>
            <a:pPr marL="171450" indent="-171450" eaLnBrk="1" hangingPunct="1">
              <a:buFont typeface="Arial"/>
              <a:buChar char="•"/>
            </a:pPr>
            <a:r>
              <a:rPr lang="en-US" altLang="en-US" sz="1500">
                <a:latin typeface="Times New Roman"/>
                <a:ea typeface="ＭＳ Ｐゴシック"/>
                <a:cs typeface="Times New Roman"/>
              </a:rPr>
              <a:t>Develop standardized calibration rubric with HR &amp; employee input</a:t>
            </a:r>
          </a:p>
          <a:p>
            <a:pPr marL="171450" indent="-171450">
              <a:buFont typeface="Arial"/>
              <a:buChar char="•"/>
            </a:pPr>
            <a:r>
              <a:rPr lang="en-US" sz="1500">
                <a:latin typeface="Times New Roman"/>
                <a:ea typeface="ＭＳ Ｐゴシック"/>
                <a:cs typeface="Times New Roman"/>
              </a:rPr>
              <a:t>Refine badge/reward and development pathways based on feedback</a:t>
            </a:r>
            <a:endParaRPr lang="en-US" altLang="en-US" sz="1500">
              <a:latin typeface="Times New Roman"/>
              <a:ea typeface="ＭＳ Ｐゴシック"/>
              <a:cs typeface="Times New Roman"/>
            </a:endParaRPr>
          </a:p>
          <a:p>
            <a:pPr marL="171450" indent="-171450" eaLnBrk="1" hangingPunct="1">
              <a:buFont typeface="Arial"/>
              <a:buChar char="•"/>
            </a:pPr>
            <a:r>
              <a:rPr lang="en-US" altLang="en-US" sz="1500">
                <a:latin typeface="Times New Roman"/>
                <a:ea typeface="ＭＳ Ｐゴシック"/>
                <a:cs typeface="Times New Roman"/>
              </a:rPr>
              <a:t>Track retention &amp; engagement metrics as improvement KPIs</a:t>
            </a:r>
          </a:p>
        </p:txBody>
      </p:sp>
      <p:pic>
        <p:nvPicPr>
          <p:cNvPr id="2" name="Picture 1">
            <a:extLst>
              <a:ext uri="{FF2B5EF4-FFF2-40B4-BE49-F238E27FC236}">
                <a16:creationId xmlns:a16="http://schemas.microsoft.com/office/drawing/2014/main" id="{08C176CB-CB29-440D-3670-4A1DD5BAC33D}"/>
              </a:ext>
            </a:extLst>
          </p:cNvPr>
          <p:cNvPicPr>
            <a:picLocks noChangeAspect="1"/>
          </p:cNvPicPr>
          <p:nvPr/>
        </p:nvPicPr>
        <p:blipFill>
          <a:blip r:embed="rId2"/>
          <a:stretch>
            <a:fillRect/>
          </a:stretch>
        </p:blipFill>
        <p:spPr>
          <a:xfrm>
            <a:off x="3999394" y="1450754"/>
            <a:ext cx="4911244" cy="2805755"/>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C9B5B66D-D0DB-DF94-52ED-154CC12FD998}"/>
              </a:ext>
            </a:extLst>
          </p:cNvPr>
          <p:cNvSpPr txBox="1"/>
          <p:nvPr/>
        </p:nvSpPr>
        <p:spPr>
          <a:xfrm>
            <a:off x="4108749" y="4767190"/>
            <a:ext cx="4804037" cy="1579920"/>
          </a:xfrm>
          <a:prstGeom prst="rect">
            <a:avLst/>
          </a:prstGeom>
          <a:solidFill>
            <a:schemeClr val="bg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800"/>
              </a:lnSpc>
            </a:pPr>
            <a:r>
              <a:rPr lang="en-US" sz="1500" b="1" baseline="0">
                <a:solidFill>
                  <a:srgbClr val="C00000"/>
                </a:solidFill>
                <a:latin typeface="Times New Roman"/>
                <a:ea typeface="Segoe UI"/>
                <a:cs typeface="Times New Roman"/>
              </a:rPr>
              <a:t>Lessons Learned</a:t>
            </a:r>
            <a:r>
              <a:rPr lang="en-US" sz="1500">
                <a:solidFill>
                  <a:srgbClr val="C00000"/>
                </a:solidFill>
                <a:latin typeface="Times New Roman"/>
                <a:ea typeface="Segoe UI"/>
                <a:cs typeface="Times New Roman"/>
              </a:rPr>
              <a:t>​</a:t>
            </a:r>
          </a:p>
          <a:p>
            <a:pPr marL="171450" lvl="0" indent="-171450" rtl="0">
              <a:lnSpc>
                <a:spcPts val="1425"/>
              </a:lnSpc>
              <a:buFont typeface="Arial,Sans-Serif"/>
              <a:buChar char="•"/>
            </a:pPr>
            <a:r>
              <a:rPr lang="en-US" sz="1200" baseline="0">
                <a:solidFill>
                  <a:srgbClr val="000000"/>
                </a:solidFill>
                <a:latin typeface="Times New Roman"/>
                <a:ea typeface="Arial"/>
                <a:cs typeface="Times New Roman"/>
              </a:rPr>
              <a:t>Lean principles apply powerfully to HR/admin processes, not just manufacturing</a:t>
            </a:r>
            <a:r>
              <a:rPr lang="en-US" sz="1200">
                <a:latin typeface="Times New Roman"/>
                <a:ea typeface="Arial"/>
                <a:cs typeface="Times New Roman"/>
              </a:rPr>
              <a:t>​</a:t>
            </a:r>
          </a:p>
          <a:p>
            <a:pPr marL="171450" lvl="0" indent="-171450" rtl="0">
              <a:lnSpc>
                <a:spcPts val="1425"/>
              </a:lnSpc>
              <a:buFont typeface="Arial,Sans-Serif"/>
              <a:buChar char="•"/>
            </a:pPr>
            <a:r>
              <a:rPr lang="en-US" sz="1200" baseline="0">
                <a:solidFill>
                  <a:srgbClr val="000000"/>
                </a:solidFill>
                <a:latin typeface="Times New Roman"/>
                <a:ea typeface="Arial"/>
                <a:cs typeface="Times New Roman"/>
              </a:rPr>
              <a:t>Reducing waste does not always mean removing steps; it can also mean creating a fairer and smoother employee experience</a:t>
            </a:r>
            <a:r>
              <a:rPr lang="en-US" sz="1200">
                <a:latin typeface="Times New Roman"/>
                <a:ea typeface="Arial"/>
                <a:cs typeface="Times New Roman"/>
              </a:rPr>
              <a:t>​</a:t>
            </a:r>
          </a:p>
          <a:p>
            <a:pPr marL="171450" lvl="0" indent="-171450" rtl="0">
              <a:lnSpc>
                <a:spcPts val="1425"/>
              </a:lnSpc>
              <a:buFont typeface="Arial,Sans-Serif"/>
              <a:buChar char="•"/>
            </a:pPr>
            <a:r>
              <a:rPr lang="en-US" sz="1200" baseline="0">
                <a:solidFill>
                  <a:srgbClr val="000000"/>
                </a:solidFill>
                <a:latin typeface="Times New Roman"/>
                <a:ea typeface="Arial"/>
                <a:cs typeface="Times New Roman"/>
              </a:rPr>
              <a:t>Respect for People is the most violated Lean principle in this system</a:t>
            </a:r>
            <a:r>
              <a:rPr lang="en-US" sz="1200">
                <a:latin typeface="Times New Roman"/>
                <a:ea typeface="Arial"/>
                <a:cs typeface="Times New Roman"/>
              </a:rPr>
              <a:t>​</a:t>
            </a:r>
          </a:p>
          <a:p>
            <a:pPr marL="171450" lvl="0" indent="-171450" rtl="0">
              <a:lnSpc>
                <a:spcPts val="1425"/>
              </a:lnSpc>
              <a:buFont typeface="Arial,Sans-Serif"/>
              <a:buChar char="•"/>
            </a:pPr>
            <a:r>
              <a:rPr lang="en-US" sz="1200" baseline="0">
                <a:solidFill>
                  <a:srgbClr val="000000"/>
                </a:solidFill>
                <a:latin typeface="Times New Roman"/>
                <a:ea typeface="Arial"/>
                <a:cs typeface="Times New Roman"/>
              </a:rPr>
              <a:t>Employee testimonials provide crucial voice-of-customer data for Lean analysis</a:t>
            </a:r>
          </a:p>
        </p:txBody>
      </p:sp>
      <p:sp>
        <p:nvSpPr>
          <p:cNvPr id="5" name="TextBox 4">
            <a:extLst>
              <a:ext uri="{FF2B5EF4-FFF2-40B4-BE49-F238E27FC236}">
                <a16:creationId xmlns:a16="http://schemas.microsoft.com/office/drawing/2014/main" id="{C32B2367-3523-2232-CC0F-3A8AF72B29B2}"/>
              </a:ext>
            </a:extLst>
          </p:cNvPr>
          <p:cNvSpPr txBox="1"/>
          <p:nvPr/>
        </p:nvSpPr>
        <p:spPr>
          <a:xfrm>
            <a:off x="5354846" y="4264338"/>
            <a:ext cx="2195512" cy="307777"/>
          </a:xfrm>
          <a:prstGeom prst="rect">
            <a:avLst/>
          </a:prstGeom>
          <a:noFill/>
        </p:spPr>
        <p:txBody>
          <a:bodyPr wrap="square">
            <a:spAutoFit/>
          </a:bodyPr>
          <a:lstStyle/>
          <a:p>
            <a:pPr algn="ctr"/>
            <a:r>
              <a:rPr lang="en-US" sz="1400" b="1" i="1" kern="1200">
                <a:solidFill>
                  <a:schemeClr val="tx2"/>
                </a:solidFill>
                <a:latin typeface="Calibri"/>
                <a:ea typeface="Calibri"/>
                <a:cs typeface="Calibri"/>
              </a:rPr>
              <a:t>Process Comparison Chart</a:t>
            </a:r>
          </a:p>
        </p:txBody>
      </p:sp>
    </p:spTree>
    <p:extLst>
      <p:ext uri="{BB962C8B-B14F-4D97-AF65-F5344CB8AC3E}">
        <p14:creationId xmlns:p14="http://schemas.microsoft.com/office/powerpoint/2010/main" val="1096277284"/>
      </p:ext>
    </p:extLst>
  </p:cSld>
  <p:clrMapOvr>
    <a:masterClrMapping/>
  </p:clrMapOvr>
</p:sld>
</file>

<file path=ppt/theme/theme1.xml><?xml version="1.0" encoding="utf-8"?>
<a:theme xmlns:a="http://schemas.openxmlformats.org/drawingml/2006/main" name="LM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022092-4417-40BF-A62C-27CA534CA505}">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3903FE40AFA14C99669C1EC3CCD793" ma:contentTypeVersion="3" ma:contentTypeDescription="Create a new document." ma:contentTypeScope="" ma:versionID="600bb9a2f02c521c336058bd3ac41e4d">
  <xsd:schema xmlns:xsd="http://www.w3.org/2001/XMLSchema" xmlns:xs="http://www.w3.org/2001/XMLSchema" xmlns:p="http://schemas.microsoft.com/office/2006/metadata/properties" xmlns:ns2="920b542f-faeb-4fc7-8270-906ce0394e3c" targetNamespace="http://schemas.microsoft.com/office/2006/metadata/properties" ma:root="true" ma:fieldsID="5abe3586885c74fd6c75f0eee8c000e4" ns2:_="">
    <xsd:import namespace="920b542f-faeb-4fc7-8270-906ce0394e3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0b542f-faeb-4fc7-8270-906ce0394e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CBFD97C-5BEA-4753-8CF9-B27A4D3AAAD2}">
  <ds:schemaRefs>
    <ds:schemaRef ds:uri="920b542f-faeb-4fc7-8270-906ce0394e3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03CA666-D661-4A7E-A5FE-770E512B4CD2}">
  <ds:schemaRefs>
    <ds:schemaRef ds:uri="920b542f-faeb-4fc7-8270-906ce0394e3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A4E5422-50E9-430E-9EB6-385E55F4422E}">
  <ds:schemaRefs>
    <ds:schemaRef ds:uri="http://schemas.microsoft.com/sharepoint/v3/contenttype/forms"/>
  </ds:schemaRefs>
</ds:datastoreItem>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emplate>LMU.potx</Template>
  <TotalTime>0</TotalTime>
  <Words>1044</Words>
  <Application>Microsoft Macintosh PowerPoint</Application>
  <PresentationFormat>On-screen Show (4:3)</PresentationFormat>
  <Paragraphs>182</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ＭＳ Ｐゴシック</vt:lpstr>
      <vt:lpstr>Arial</vt:lpstr>
      <vt:lpstr>Arial,Sans-Serif</vt:lpstr>
      <vt:lpstr>Calibri</vt:lpstr>
      <vt:lpstr>Georgia</vt:lpstr>
      <vt:lpstr>Lucida Grande</vt:lpstr>
      <vt:lpstr>Times New Roman</vt:lpstr>
      <vt:lpstr>LMU</vt:lpstr>
      <vt:lpstr>PowerPoint Presentation</vt:lpstr>
      <vt:lpstr>Background &amp; Current State</vt:lpstr>
      <vt:lpstr>PowerPoint Presentation</vt:lpstr>
      <vt:lpstr>PowerPoint Presentation</vt:lpstr>
      <vt:lpstr>PowerPoint Presentation</vt:lpstr>
      <vt:lpstr>Root Cause Analysis &amp; Wastes</vt:lpstr>
      <vt:lpstr>Pareto Analysis</vt:lpstr>
      <vt:lpstr>Implementation - Lean Improvements</vt:lpstr>
      <vt:lpstr>PowerPoint Presentation</vt:lpstr>
      <vt:lpstr>PowerPoint Presentation</vt:lpstr>
      <vt:lpstr>PowerPoint Presentation</vt:lpstr>
      <vt:lpstr>Numerical Validation</vt:lpstr>
      <vt:lpstr>What's Next: Follow Up &amp; Results</vt:lpstr>
    </vt:vector>
  </TitlesOfParts>
  <Company>Metis Design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Hugh McManus</dc:creator>
  <cp:lastModifiedBy>Bandi, Bharat</cp:lastModifiedBy>
  <cp:revision>35</cp:revision>
  <dcterms:created xsi:type="dcterms:W3CDTF">2014-11-08T01:37:56Z</dcterms:created>
  <dcterms:modified xsi:type="dcterms:W3CDTF">2026-04-10T02:53:09Z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0x0101004A3903FE40AFA14C99669C1EC3CCD793</vt:lpwstr>
  </property>
</Properties>
</file>